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301" r:id="rId2"/>
    <p:sldId id="363" r:id="rId3"/>
    <p:sldId id="317" r:id="rId4"/>
    <p:sldId id="348" r:id="rId5"/>
    <p:sldId id="349" r:id="rId6"/>
    <p:sldId id="350" r:id="rId7"/>
    <p:sldId id="351" r:id="rId8"/>
    <p:sldId id="364" r:id="rId9"/>
    <p:sldId id="352" r:id="rId10"/>
    <p:sldId id="365" r:id="rId11"/>
    <p:sldId id="353" r:id="rId12"/>
    <p:sldId id="354" r:id="rId13"/>
    <p:sldId id="366" r:id="rId14"/>
    <p:sldId id="355" r:id="rId15"/>
    <p:sldId id="356" r:id="rId16"/>
    <p:sldId id="357" r:id="rId17"/>
    <p:sldId id="358" r:id="rId18"/>
    <p:sldId id="359" r:id="rId19"/>
    <p:sldId id="360" r:id="rId20"/>
    <p:sldId id="361" r:id="rId21"/>
    <p:sldId id="335" r:id="rId22"/>
    <p:sldId id="367" r:id="rId23"/>
    <p:sldId id="336" r:id="rId24"/>
    <p:sldId id="362" r:id="rId25"/>
    <p:sldId id="29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67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175235-FD81-D761-3EFC-848F1E2056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A926D1-3B38-2D68-8D2F-EC0DDAE86B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4DC96-5CD5-47A7-A22A-56CBCF9425B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4AA73C-76E4-90F2-E764-1FF59A9561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ADAS Implementation: Lane Changing System(LCS)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40451-E833-3D0C-C82F-1520F2A381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4DDB6-00E3-40B5-BACC-A815B17D5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062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E9FE33-E735-44B8-BB35-16F877C7D2DD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856740-E873-41A4-A752-F498DCCF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184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23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0C6D-E7DC-0520-BEC8-98A120F68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BC19EA-D47D-BFC6-B7B7-2FAC6DCAD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43D66-7333-011A-D9F6-E200697D7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3AD85-39D5-EFF2-E1F6-78C556323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83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DF60-5F64-9D97-27DE-36463BF1A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CD57D-AF1D-4621-8F8A-FE57099B8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F14C2-A08C-17A0-77BF-E25D6C5D0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A9787-4390-5A18-9DE3-0252C82C8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13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AAEC4-0B83-9C8B-7BC3-4BBBB6961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1C748-17B7-86EB-F22E-6E8C73AE5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A957B-E114-0A01-BDA0-9B35012E5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C4A29-F564-C418-AD2C-03D6DBEF2A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63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08A50-12ED-65DF-47E2-29685BE1A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06F646-BA5D-D8E0-1E10-89DB41A63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81CBA-02A9-3FFD-09DA-87AFA664D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EAE99-2A41-EED8-CC52-042234CEF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58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6F716-CA01-8243-1104-5AB256AF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82472-A2DF-76E0-066F-11E95A9F2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EE72A-206A-9DFE-2327-710ABE394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36B44-2F60-B2A1-1AE4-257F63D30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3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DAE9-555D-9201-C91C-8C21ABA1E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30DF8D-8EB7-54A9-D63F-A2A8EA526D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C38E08-BB98-D963-D231-4A2E82EC6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54264-4F3E-4382-3456-603675064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45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2CCEC-F8AF-5A21-143E-9EDEE9CD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FF5E5-A850-995D-D06A-AE4E018FC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6F467-AE59-5DDF-21B1-1ABB81BC4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1588F-1FB5-24ED-BF4C-A63D4B745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84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6F768-9301-2A14-AB71-90E727FD8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FE38A-4809-8C75-BC31-AA953993C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34400-EDE0-004B-558F-5C3EF13C1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421CB-E195-8A23-72A8-E4C095B27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6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45636-BDB1-D3CF-8752-B1516DDA3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9C54A-E617-F792-02C5-56EC590D2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909B1-3605-E11C-9C2C-77FD10468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61738-FDDB-3166-38CB-545A2B53F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43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8BD84-4FD1-16A7-C807-3CD603610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0D1D47-0372-440A-05D0-872D1BF76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F7AF01-7D88-0A5E-05B5-284E5D510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5D505-9196-5C76-7E4D-B054B9CAB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565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CC2F-5A66-E776-AD73-F79C8CED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8A6347-D5B8-3B82-6FA0-B2A5B59FE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5C5B1-F837-ED7F-7B63-DCD624E776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B769A-1789-B1BA-0D89-D70B35A0C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142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F5CC4-520C-F00B-6119-003EB6DCB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5769C-740B-9057-559A-95820C768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F4853-7231-890E-4F46-62F477012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614D0-BA70-2ADA-84D1-F3F24E9AD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986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3F3E0-839A-4E17-CC09-8D95C298C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7A62C-18F1-6798-6372-4D5CEA373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7AC02-3163-265B-54AE-23D19535A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9039D-FA18-A50F-0D60-ED996166B4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60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01D42-79AB-4292-8D74-27FF22C97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E5D7E-BDD3-9A16-C2E7-3CF6421FD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3A39A-DB1B-7517-564A-C9FF30189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F5771-24C3-3E44-1E2C-ED64F23E4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80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7633-31F4-791E-3374-7B94AEE7A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A57EC4-289B-CEC9-5FD4-BAA10C4E2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FFDBD-4C8A-17E4-C580-322F0F023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31C78-D54D-5B3C-ECD4-99B1D825D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910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96869-E7BB-8F7B-AB00-D05264B5A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D1F5D-3EEB-9B9E-DE76-D6DE99738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770F4-B873-317F-0A87-C8E17D9F1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46B36-ED8A-BDA7-1495-BF919C22E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226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23053-1C8F-3617-B923-4A2257389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777F5-9AFB-1BAB-5673-D3109F090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2911C-17ED-19E0-2062-44C35C141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8F4E8-2258-5038-1643-8D8449A22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774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75345-80CB-657A-4ABC-F2EE2C704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84EFE-DA39-B489-50FD-2DC8115DF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E5116-E807-2CE8-F9C3-D5BCD3612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FDFF4-CBF1-D663-76FA-6DF6BF31A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56740-E873-41A4-A752-F498DCCF7C2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71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FDAF-CEBA-49D5-8C4C-FA75B5C0693C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769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BCCC6-52C3-40EC-A371-E4A6EBE5A210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74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E52EA-CEED-45F8-8F70-0842B4F5E5B6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55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8913-3A4B-42E3-AAA1-F0D1B1D45321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76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85773-BC8C-46DE-864B-B636FAF2A134}" type="datetime1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60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DC52F-3285-408D-87ED-92F675217B45}" type="datetime1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8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ABAEE-D79B-472C-A941-B6D6A9E57B45}" type="datetime1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1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07587-8017-4AC7-925E-A802CE6E22F0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81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46CF1-001D-4B02-95FC-3373963B84B3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81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CC9A-0B1A-46DF-B231-A99953875171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43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6D373-9AA8-41BC-978A-151B123EB9C1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74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B86A-F4EC-4128-8BB3-D13CF81B7957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50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89AD4-C16B-4B12-955C-45B1AC89EE74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90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A60AD-CCBC-409C-8C93-C312546AA6EE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5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C266-2B27-49C2-ABEA-7C6B0B5D2FD7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80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244E9-FC29-4D90-AF70-9F773F0F5442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22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49B40-5665-4CC9-8F7F-F2B68727E8D6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239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8B01A57-73A1-4ACE-8DEC-4702ABB87C01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ADAS Implementation: Lane Changing System(LCS)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7D65960-9D0F-44D2-88F9-95B0BAD7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2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E0B9-BF40-77DD-76C8-3C693DB69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7692" y="1318929"/>
            <a:ext cx="8964505" cy="180356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/>
              <a:t>SYSTEMS FOR AUTONOMOUS AIRCRAFT</a:t>
            </a:r>
            <a:br>
              <a:rPr lang="en-US" sz="4000" b="1" dirty="0"/>
            </a:br>
            <a:r>
              <a:rPr lang="en-US" sz="2800" b="1" dirty="0"/>
              <a:t>FINAL PROJECT</a:t>
            </a:r>
            <a:br>
              <a:rPr lang="en-US" sz="2800" b="1" dirty="0"/>
            </a:br>
            <a:r>
              <a:rPr lang="en-US" sz="2800" b="1" dirty="0"/>
              <a:t>2025-2026</a:t>
            </a:r>
            <a:br>
              <a:rPr lang="en-US" dirty="0"/>
            </a:br>
            <a:endParaRPr lang="en-US" sz="4000" b="1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8757965-EADC-F540-B577-27DF78C35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Dipartimento di Ingegneria Industriale - DII - UniversitÃ ...">
            <a:extLst>
              <a:ext uri="{FF2B5EF4-FFF2-40B4-BE49-F238E27FC236}">
                <a16:creationId xmlns:a16="http://schemas.microsoft.com/office/drawing/2014/main" id="{BA8746D7-6C00-B0AD-67F3-4A1BF6FB2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3" y="994313"/>
            <a:ext cx="818032" cy="64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CAB94C-B7AE-F72B-1A94-677D564BC22B}"/>
              </a:ext>
            </a:extLst>
          </p:cNvPr>
          <p:cNvSpPr txBox="1"/>
          <p:nvPr/>
        </p:nvSpPr>
        <p:spPr>
          <a:xfrm>
            <a:off x="6959600" y="4238934"/>
            <a:ext cx="523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rgbClr val="000000"/>
              </a:buClr>
              <a:buSzPts val="3100"/>
            </a:pPr>
            <a:r>
              <a:rPr lang="en-US" sz="18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GUIDE: </a:t>
            </a:r>
            <a:r>
              <a:rPr lang="en-US" b="1" dirty="0"/>
              <a:t>Prof. ROBERTO OPROMOLLA</a:t>
            </a:r>
            <a:endParaRPr lang="en-US" sz="1800" b="1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C7EB9-23B7-D112-E61F-0F64B4A4B4BB}"/>
              </a:ext>
            </a:extLst>
          </p:cNvPr>
          <p:cNvSpPr txBox="1"/>
          <p:nvPr/>
        </p:nvSpPr>
        <p:spPr>
          <a:xfrm>
            <a:off x="4453189" y="2844225"/>
            <a:ext cx="4416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CAMERA CALIBRATION</a:t>
            </a:r>
          </a:p>
        </p:txBody>
      </p:sp>
    </p:spTree>
    <p:extLst>
      <p:ext uri="{BB962C8B-B14F-4D97-AF65-F5344CB8AC3E}">
        <p14:creationId xmlns:p14="http://schemas.microsoft.com/office/powerpoint/2010/main" val="3001513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73241"/>
            <a:ext cx="10018713" cy="1752599"/>
          </a:xfrm>
        </p:spPr>
        <p:txBody>
          <a:bodyPr/>
          <a:lstStyle/>
          <a:p>
            <a:r>
              <a:rPr lang="en-AU" dirty="0"/>
              <a:t>Camera Specs</a:t>
            </a:r>
            <a:br>
              <a:rPr lang="en-AU" dirty="0"/>
            </a:br>
            <a:r>
              <a:rPr lang="en-AU" sz="1200" dirty="0"/>
              <a:t>which camera?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DFF53-EC5B-5D1C-49C1-B8D53E7290EC}"/>
              </a:ext>
            </a:extLst>
          </p:cNvPr>
          <p:cNvSpPr txBox="1"/>
          <p:nvPr/>
        </p:nvSpPr>
        <p:spPr>
          <a:xfrm>
            <a:off x="1291746" y="1524000"/>
            <a:ext cx="10403840" cy="4314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Sensor Resolution</a:t>
            </a: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50 MP</a:t>
            </a:r>
          </a:p>
          <a:p>
            <a:pPr marL="285750" marR="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Aperture</a:t>
            </a: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f/1.4.</a:t>
            </a:r>
          </a:p>
          <a:p>
            <a:pPr marL="285750" marR="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Sensor Size</a:t>
            </a: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1/1.55“</a:t>
            </a:r>
          </a:p>
          <a:p>
            <a:pPr marL="285750" marR="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Pixel Size</a:t>
            </a: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1.0µm (2.0µm with Quad Pixel Technology)</a:t>
            </a:r>
          </a:p>
          <a:p>
            <a:pPr marL="285750" marR="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Focal Length</a:t>
            </a: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25mm (35mm equivalent)</a:t>
            </a:r>
          </a:p>
          <a:p>
            <a:pPr marL="285750" marR="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Focus Technology</a:t>
            </a: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Multi-directional PDAF (Phase Detection Auto Focus) + Laser AF</a:t>
            </a:r>
          </a:p>
          <a:p>
            <a:pPr marL="285750" marR="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Stabilization</a:t>
            </a: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OIS (Optical Image Stabilization)</a:t>
            </a:r>
          </a:p>
          <a:p>
            <a:pPr marL="285750" marR="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Color Validation</a:t>
            </a: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Pantone™ Validated (True-to-life color and skin tone accuracy)</a:t>
            </a:r>
            <a:endParaRPr lang="en-US" sz="1800" dirty="0">
              <a:solidFill>
                <a:srgbClr val="00206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245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7C2FE-7339-CA3B-6407-84FE7E5E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972710D-1D57-7C37-8061-A09E9BE1D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7ED61392-4D09-4044-4852-858431DC5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C5FF97-A517-FED1-43F8-7938D8EA3228}"/>
                  </a:ext>
                </a:extLst>
              </p:cNvPr>
              <p:cNvSpPr txBox="1"/>
              <p:nvPr/>
            </p:nvSpPr>
            <p:spPr>
              <a:xfrm>
                <a:off x="1460496" y="598250"/>
                <a:ext cx="10479969" cy="56482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lang="en-US" sz="2000" b="1" dirty="0">
                    <a:solidFill>
                      <a:srgbClr val="002060"/>
                    </a:solidFill>
                  </a:rPr>
                  <a:t>Test four distortion models:  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1. 4th order radial only (k1, k2)  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2. 4th order radial + tangential (k1,k2,p1,p2)  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3. 6th order radial + tangential (k1,k2,k3,p1,p2)  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4. Full model with skew (k1,k2,k3,p1,p2,</a:t>
                </a:r>
                <a:r>
                  <a:rPr lang="el-GR" sz="2000" dirty="0">
                    <a:solidFill>
                      <a:srgbClr val="002060"/>
                    </a:solidFill>
                  </a:rPr>
                  <a:t>α)</a:t>
                </a:r>
                <a:endParaRPr lang="en-AU" sz="2000" dirty="0">
                  <a:solidFill>
                    <a:srgbClr val="002060"/>
                  </a:solidFill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en-US" sz="2000" dirty="0">
                    <a:solidFill>
                      <a:srgbClr val="002060"/>
                    </a:solidFill>
                  </a:rPr>
                  <a:t>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Analyze</a:t>
                </a:r>
                <a:r>
                  <a:rPr lang="en-US" sz="2000" dirty="0">
                    <a:solidFill>
                      <a:srgbClr val="002060"/>
                    </a:solidFill>
                  </a:rPr>
                  <a:t>:  </a:t>
                </a:r>
              </a:p>
              <a:p>
                <a:pPr marL="342900" lvl="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Effect of image count on calibration quality  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Optimal model selection using score metric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2060"/>
                    </a:solidFill>
                  </a:rPr>
                  <a:t>Score Metric (details on Slide 18):  Combines parameter uncertainty + reprojection error  → Lower score = better calibration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1200" i="1">
                        <a:latin typeface="Cambria Math" panose="02040503050406030204" pitchFamily="18" charset="0"/>
                      </a:rPr>
                      <m:t>𝑆𝑐𝑜𝑟𝑒</m:t>
                    </m:r>
                    <m:r>
                      <a:rPr lang="it-IT" sz="1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𝑒𝑟𝑟</m:t>
                                </m:r>
                              </m:sub>
                            </m:sSub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e>
                        </m:d>
                      </m:num>
                      <m:den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𝑓𝑐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it-IT" sz="1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𝑒𝑟𝑟</m:t>
                                </m:r>
                              </m:sub>
                            </m:sSub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(2)</m:t>
                            </m:r>
                          </m:e>
                        </m:d>
                      </m:num>
                      <m:den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𝑓𝑐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  <m:r>
                      <a:rPr lang="it-IT" sz="1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𝑒𝑟𝑟</m:t>
                                </m:r>
                              </m:sub>
                            </m:sSub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e>
                        </m:d>
                      </m:num>
                      <m:den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𝑐𝑐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a:rPr lang="it-IT" sz="1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𝑒𝑟𝑟</m:t>
                                </m:r>
                              </m:sub>
                            </m:sSub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(2)</m:t>
                            </m:r>
                          </m:e>
                        </m:d>
                      </m:num>
                      <m:den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𝑐𝑐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  <m:r>
                      <a:rPr lang="it-IT" sz="1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𝑘𝑐</m:t>
                                </m:r>
                              </m:e>
                              <m:sub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𝑒𝑟𝑟</m:t>
                                </m:r>
                              </m:sub>
                            </m:sSub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𝑘𝑐</m:t>
                            </m:r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e>
                        </m:d>
                      </m:den>
                    </m:f>
                    <m:r>
                      <a:rPr lang="it-IT" sz="1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𝑘𝑐</m:t>
                                </m:r>
                              </m:e>
                              <m:sub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𝑒𝑟𝑟</m:t>
                                </m:r>
                              </m:sub>
                            </m:sSub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(2)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𝑘𝑐</m:t>
                            </m:r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(2)</m:t>
                            </m:r>
                          </m:e>
                        </m:d>
                      </m:den>
                    </m:f>
                    <m:r>
                      <a:rPr lang="it-IT" sz="1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𝑘𝑐</m:t>
                                </m:r>
                              </m:e>
                              <m:sub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𝑒𝑟𝑟</m:t>
                                </m:r>
                              </m:sub>
                            </m:sSub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(3)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𝑘𝑐</m:t>
                            </m:r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(3)</m:t>
                            </m:r>
                          </m:e>
                        </m:d>
                      </m:den>
                    </m:f>
                    <m:r>
                      <a:rPr lang="it-IT" sz="1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𝑘𝑐</m:t>
                                </m:r>
                              </m:e>
                              <m:sub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𝑒𝑟𝑟</m:t>
                                </m:r>
                              </m:sub>
                            </m:sSub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(4)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𝑘𝑐</m:t>
                            </m:r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(4)</m:t>
                            </m:r>
                          </m:e>
                        </m:d>
                      </m:den>
                    </m:f>
                    <m:r>
                      <a:rPr lang="it-IT" sz="1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𝑘𝑐</m:t>
                                </m:r>
                              </m:e>
                              <m:sub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𝑒𝑟𝑟</m:t>
                                </m:r>
                              </m:sub>
                            </m:sSub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(5)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𝑘𝑐</m:t>
                            </m:r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(5)</m:t>
                            </m:r>
                          </m:e>
                        </m:d>
                      </m:den>
                    </m:f>
                    <m:r>
                      <a:rPr lang="it-IT" sz="1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𝑎𝑙𝑝h𝑎</m:t>
                                </m:r>
                              </m:e>
                              <m:sub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𝑒𝑟𝑟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𝑎𝑙𝑝h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it-IT" sz="1200" i="1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𝑒𝑟𝑟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𝑒𝑟𝑟</m:t>
                        </m:r>
                        <m:sSup>
                          <m:s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it-IT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dirty="0"/>
              </a:p>
              <a:p>
                <a:pPr marL="0" lvl="1" algn="just">
                  <a:lnSpc>
                    <a:spcPct val="15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C5FF97-A517-FED1-43F8-7938D8EA3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496" y="598250"/>
                <a:ext cx="10479969" cy="5648278"/>
              </a:xfrm>
              <a:prstGeom prst="rect">
                <a:avLst/>
              </a:prstGeom>
              <a:blipFill>
                <a:blip r:embed="rId5"/>
                <a:stretch>
                  <a:fillRect l="-6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9DE69F6-B915-4DC9-6C72-EEFC7FAF2B2F}"/>
              </a:ext>
            </a:extLst>
          </p:cNvPr>
          <p:cNvSpPr txBox="1"/>
          <p:nvPr/>
        </p:nvSpPr>
        <p:spPr>
          <a:xfrm>
            <a:off x="4713418" y="9178"/>
            <a:ext cx="428752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/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15705" y="922866"/>
            <a:ext cx="50957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l-GR" sz="2000" dirty="0">
                <a:solidFill>
                  <a:srgbClr val="002060"/>
                </a:solidFill>
              </a:rPr>
              <a:t>- </a:t>
            </a:r>
            <a:r>
              <a:rPr lang="en-US" sz="2000" dirty="0">
                <a:solidFill>
                  <a:srgbClr val="002060"/>
                </a:solidFill>
              </a:rPr>
              <a:t>For each model, report: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  Intrinsic parameters + uncertainties (</a:t>
            </a:r>
            <a:r>
              <a:rPr lang="el-GR" sz="2000" dirty="0">
                <a:solidFill>
                  <a:srgbClr val="002060"/>
                </a:solidFill>
              </a:rPr>
              <a:t>σ)  </a:t>
            </a:r>
            <a:endParaRPr lang="en-AU" sz="2000" dirty="0">
              <a:solidFill>
                <a:srgbClr val="002060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000" dirty="0">
                <a:solidFill>
                  <a:srgbClr val="002060"/>
                </a:solidFill>
              </a:rPr>
              <a:t> </a:t>
            </a:r>
            <a:r>
              <a:rPr lang="en-US" sz="2000" dirty="0">
                <a:solidFill>
                  <a:srgbClr val="002060"/>
                </a:solidFill>
              </a:rPr>
              <a:t>Extrinsic parameters (R, t for each image) 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 err="1">
                <a:solidFill>
                  <a:srgbClr val="002060"/>
                </a:solidFill>
              </a:rPr>
              <a:t>Reprojection</a:t>
            </a:r>
            <a:r>
              <a:rPr lang="en-US" sz="2000" dirty="0">
                <a:solidFill>
                  <a:srgbClr val="002060"/>
                </a:solidFill>
              </a:rPr>
              <a:t> errors (per image + mean)</a:t>
            </a:r>
          </a:p>
        </p:txBody>
      </p:sp>
    </p:spTree>
    <p:extLst>
      <p:ext uri="{BB962C8B-B14F-4D97-AF65-F5344CB8AC3E}">
        <p14:creationId xmlns:p14="http://schemas.microsoft.com/office/powerpoint/2010/main" val="299479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8152FD-6D80-EE2C-1FA3-D2BD91607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BB7E953-6E2E-EF8A-E4F0-C795B99EE860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INTRODUCTION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D3B42F-A129-7FF2-7E5F-EB1A06C6F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110F32F-B27B-3E70-7D3F-59528B2BD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B423799-EFBD-1F0C-04EC-6C1797C2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6DFF53-EC5B-5D1C-49C1-B8D53E7290EC}"/>
              </a:ext>
            </a:extLst>
          </p:cNvPr>
          <p:cNvSpPr txBox="1"/>
          <p:nvPr/>
        </p:nvSpPr>
        <p:spPr>
          <a:xfrm>
            <a:off x="1463040" y="1349114"/>
            <a:ext cx="10403840" cy="1415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planar checkerboard with known square size is used. For each image, the corner points are detected in the image and associated with known 3D coordinates in the checkerboard reference frame.</a:t>
            </a:r>
          </a:p>
          <a:p>
            <a:pPr marL="285750" marR="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The calibration problem is solved by minimizing the reprojection error using nonlinear least squares.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04DBA1-110D-8FF1-9EE8-627C5399AB5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186545" y="3322532"/>
            <a:ext cx="3063240" cy="22974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5ACFBF-382E-A185-1421-727BB53C549A}"/>
              </a:ext>
            </a:extLst>
          </p:cNvPr>
          <p:cNvSpPr txBox="1"/>
          <p:nvPr/>
        </p:nvSpPr>
        <p:spPr>
          <a:xfrm>
            <a:off x="1463040" y="3055538"/>
            <a:ext cx="8106410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checkerboard with square size 25 mm was used. </a:t>
            </a:r>
          </a:p>
          <a:p>
            <a:pPr marL="285750" marR="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total of 21 usable images were acquired with different orientations and positions. </a:t>
            </a:r>
          </a:p>
          <a:p>
            <a:pPr marL="285750" marR="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206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656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3F2B4-6C4B-4C5C-CB03-B28A76C73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B1BE692-7516-1484-A2FB-AD93ED47C9CC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METHODOLOGY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06B0AD-8785-5D26-2F25-AC3752999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EB74FF8-84E2-CDA8-2A2C-615D137A3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127FD9A-F198-15B1-FC34-5CC3E4EC6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99B9CD-ED06-5DA7-F812-6F2F2DF6996F}"/>
                  </a:ext>
                </a:extLst>
              </p:cNvPr>
              <p:cNvSpPr txBox="1"/>
              <p:nvPr/>
            </p:nvSpPr>
            <p:spPr>
              <a:xfrm>
                <a:off x="1465862" y="764842"/>
                <a:ext cx="6187440" cy="59918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indent="-285750">
                  <a:lnSpc>
                    <a:spcPct val="15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s-ES" sz="1800" dirty="0" err="1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Pinhole</a:t>
                </a:r>
                <a:r>
                  <a:rPr lang="es-ES" sz="1800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Camera </a:t>
                </a:r>
                <a:r>
                  <a:rPr lang="es-ES" sz="1800" dirty="0" err="1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Model</a:t>
                </a:r>
                <a:endParaRPr lang="es-ES" sz="1800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s-ES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Ideal </a:t>
                </a:r>
                <a:r>
                  <a:rPr lang="es-ES" dirty="0" err="1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projection</a:t>
                </a:r>
                <a:r>
                  <a:rPr lang="es-ES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: x = X/Z , y = Y/Z</a:t>
                </a:r>
              </a:p>
              <a:p>
                <a:pPr marL="742950" lvl="1" indent="-285750">
                  <a:lnSpc>
                    <a:spcPct val="15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s-ES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Pixel </a:t>
                </a:r>
                <a:r>
                  <a:rPr lang="es-ES" dirty="0" err="1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coordinates</a:t>
                </a:r>
                <a:r>
                  <a:rPr lang="es-ES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: u = </a:t>
                </a:r>
                <a:r>
                  <a:rPr lang="es-ES" dirty="0" err="1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fx</a:t>
                </a:r>
                <a:r>
                  <a:rPr lang="es-ES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x + </a:t>
                </a:r>
                <a:r>
                  <a:rPr lang="es-ES" dirty="0" err="1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cx</a:t>
                </a:r>
                <a:r>
                  <a:rPr lang="es-ES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, v = </a:t>
                </a:r>
                <a:r>
                  <a:rPr lang="es-ES" dirty="0" err="1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fy</a:t>
                </a:r>
                <a:r>
                  <a:rPr lang="es-ES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y + </a:t>
                </a:r>
                <a:r>
                  <a:rPr lang="es-ES" dirty="0" err="1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cy</a:t>
                </a:r>
                <a:r>
                  <a:rPr lang="en-US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.</a:t>
                </a:r>
              </a:p>
              <a:p>
                <a:pPr marL="742950" lvl="1" indent="-285750">
                  <a:lnSpc>
                    <a:spcPct val="15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Homogeneous form: [u v 1]^T = K [R | t] [X Y Z 1]^T</a:t>
                </a:r>
              </a:p>
              <a:p>
                <a:pPr marL="742950" lvl="1" indent="-285750">
                  <a:lnSpc>
                    <a:spcPct val="15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Intrinsic matrix K: </a:t>
                </a:r>
                <a:r>
                  <a:rPr lang="en-US" dirty="0" err="1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fx</a:t>
                </a:r>
                <a:r>
                  <a:rPr lang="en-US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, </a:t>
                </a:r>
                <a:r>
                  <a:rPr lang="en-US" dirty="0" err="1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fy</a:t>
                </a:r>
                <a:r>
                  <a:rPr lang="en-US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, cx, cy, skew</a:t>
                </a:r>
              </a:p>
              <a:p>
                <a:pPr marL="285750" indent="-285750">
                  <a:lnSpc>
                    <a:spcPct val="15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Distortion</a:t>
                </a:r>
              </a:p>
              <a:p>
                <a:pPr marL="742950" lvl="1" indent="-285750">
                  <a:lnSpc>
                    <a:spcPct val="15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Radial Distortion Model (Plumb-Bob)</a:t>
                </a:r>
              </a:p>
              <a:p>
                <a:pPr marL="742950" lvl="1" indent="-285750">
                  <a:lnSpc>
                    <a:spcPct val="15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Let the normalized image coordinates be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)</a:t>
                </a:r>
              </a:p>
              <a:p>
                <a:pPr marL="742950" lvl="1" indent="-285750">
                  <a:lnSpc>
                    <a:spcPct val="15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99B9CD-ED06-5DA7-F812-6F2F2DF69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862" y="764842"/>
                <a:ext cx="6187440" cy="5991897"/>
              </a:xfrm>
              <a:prstGeom prst="rect">
                <a:avLst/>
              </a:prstGeom>
              <a:blipFill>
                <a:blip r:embed="rId5"/>
                <a:stretch>
                  <a:fillRect l="-7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E76AC3-C50C-5866-7C00-139FD783168C}"/>
                  </a:ext>
                </a:extLst>
              </p:cNvPr>
              <p:cNvSpPr txBox="1"/>
              <p:nvPr/>
            </p:nvSpPr>
            <p:spPr>
              <a:xfrm>
                <a:off x="7273775" y="3803957"/>
                <a:ext cx="4696283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Interpretation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are radial distortion coefficients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Distortion:</a:t>
                </a: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Is zero at the image center</a:t>
                </a: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Increases towards image borders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Models:</a:t>
                </a: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Barrel distortion (lines bend outward)</a:t>
                </a: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Pincushion distortion (lines bend inward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E76AC3-C50C-5866-7C00-139FD7831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775" y="3803957"/>
                <a:ext cx="4696283" cy="2308324"/>
              </a:xfrm>
              <a:prstGeom prst="rect">
                <a:avLst/>
              </a:prstGeom>
              <a:blipFill>
                <a:blip r:embed="rId6"/>
                <a:stretch>
                  <a:fillRect l="-778" t="-1583" b="-29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4842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A83CF-1A92-89AF-8DF8-03E3298B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8CFC10B-CFFD-B3B3-168D-FF0D90D182B5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METHODOLOGY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DDB2DA-F2DC-FA52-A5D7-BACBE4AA6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3B9F6C0D-ACBA-1153-2F23-B41E2325A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5FA1D75-A81D-67F8-95C6-BC8F34362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A4B8D2-FCF0-6BF4-F7A5-C32CD4291C39}"/>
                  </a:ext>
                </a:extLst>
              </p:cNvPr>
              <p:cNvSpPr txBox="1"/>
              <p:nvPr/>
            </p:nvSpPr>
            <p:spPr>
              <a:xfrm>
                <a:off x="1111221" y="922866"/>
                <a:ext cx="6187440" cy="2996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effectLst/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Distortion</a:t>
                </a:r>
              </a:p>
              <a:p>
                <a:pPr marL="742950" lvl="1" indent="-285750">
                  <a:lnSpc>
                    <a:spcPct val="15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Radial Distortion Model (Plumb-Bob)</a:t>
                </a:r>
              </a:p>
              <a:p>
                <a:pPr marL="742950" lvl="1" indent="-285750">
                  <a:lnSpc>
                    <a:spcPct val="15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Let the normalized image coordinates be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: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𝑥𝑦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742950" lvl="1" indent="-285750">
                  <a:lnSpc>
                    <a:spcPct val="150000"/>
                  </a:lnSpc>
                  <a:spcAft>
                    <a:spcPts val="10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02060"/>
                  </a:solidFill>
                  <a:effectLst/>
                  <a:latin typeface="Cambria" panose="02040503050406030204" pitchFamily="18" charset="0"/>
                  <a:ea typeface="MS Mincho" panose="02020609040205080304" pitchFamily="49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A4B8D2-FCF0-6BF4-F7A5-C32CD4291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221" y="922866"/>
                <a:ext cx="6187440" cy="2996205"/>
              </a:xfrm>
              <a:prstGeom prst="rect">
                <a:avLst/>
              </a:prstGeom>
              <a:blipFill>
                <a:blip r:embed="rId5"/>
                <a:stretch>
                  <a:fillRect l="-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7ABD575-148A-6B11-5E8C-1EC6407F1A95}"/>
              </a:ext>
            </a:extLst>
          </p:cNvPr>
          <p:cNvSpPr txBox="1"/>
          <p:nvPr/>
        </p:nvSpPr>
        <p:spPr>
          <a:xfrm>
            <a:off x="1808848" y="4140511"/>
            <a:ext cx="46962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p1​,p2	​ = tangential distortion coefficients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Distortion is usually much smaller than radial distortion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Depends on lens alignment, not lens shape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F8A62FA-2EAF-9A9D-D61E-7F3FCD50C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8661" y="1041480"/>
            <a:ext cx="4897418" cy="324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SKEW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Skew represents non-orthogonality between the image x and y axes</a:t>
            </a: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It appears when: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Pixels are not perfectly rectangular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sensor axes are not exactly perpendicular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1AC7A8-42DC-7939-B8E1-87A767ED7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775" y="4612249"/>
            <a:ext cx="2217612" cy="10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638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EE4B3C-25E3-43AA-AD6D-672932832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C4CEFC-C77D-0949-8E7F-B5D8A091C983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CALIBRATION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59FCBD-24A1-CED1-53F6-57A976A47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673F6890-443A-CA7E-3AC4-C5B7F6CD5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3AAA09B-4EC6-1DE3-BB61-21797ED7D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EED1CA-AD14-90F4-0CA2-6971368D774B}"/>
              </a:ext>
            </a:extLst>
          </p:cNvPr>
          <p:cNvSpPr txBox="1"/>
          <p:nvPr/>
        </p:nvSpPr>
        <p:spPr>
          <a:xfrm>
            <a:off x="1111221" y="922866"/>
            <a:ext cx="6187440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4th order radial, no tangential, no skew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8777B7-00A4-193E-590F-657D6D121F6A}"/>
                  </a:ext>
                </a:extLst>
              </p:cNvPr>
              <p:cNvSpPr txBox="1"/>
              <p:nvPr/>
            </p:nvSpPr>
            <p:spPr>
              <a:xfrm>
                <a:off x="1627051" y="1379338"/>
                <a:ext cx="6097772" cy="34288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Intrinsic Calibration Results 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Estimated Parameters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Focal length: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3019</m:t>
                    </m:r>
                  </m:oMath>
                </a14:m>
                <a:r>
                  <a:rPr lang="en-US" dirty="0" err="1"/>
                  <a:t>px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3007</m:t>
                    </m:r>
                  </m:oMath>
                </a14:m>
                <a:r>
                  <a:rPr lang="en-US" dirty="0" err="1"/>
                  <a:t>px</a:t>
                </a:r>
                <a:endParaRPr lang="en-US" dirty="0"/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Principal point: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2033</m:t>
                    </m:r>
                  </m:oMath>
                </a14:m>
                <a:r>
                  <a:rPr lang="en-US" dirty="0" err="1"/>
                  <a:t>px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1558</m:t>
                    </m:r>
                  </m:oMath>
                </a14:m>
                <a:r>
                  <a:rPr lang="en-US" dirty="0" err="1"/>
                  <a:t>px</a:t>
                </a:r>
                <a:endParaRPr lang="en-US" dirty="0"/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Radial distortion: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1556</m:t>
                    </m:r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6846</m:t>
                    </m:r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8777B7-00A4-193E-590F-657D6D121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051" y="1379338"/>
                <a:ext cx="6097772" cy="3428824"/>
              </a:xfrm>
              <a:prstGeom prst="rect">
                <a:avLst/>
              </a:prstGeom>
              <a:blipFill>
                <a:blip r:embed="rId5"/>
                <a:stretch>
                  <a:fillRect l="-700" b="-17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7EF8A6-CB84-016F-592F-D8D048B8FAA3}"/>
                  </a:ext>
                </a:extLst>
              </p:cNvPr>
              <p:cNvSpPr txBox="1"/>
              <p:nvPr/>
            </p:nvSpPr>
            <p:spPr>
              <a:xfrm>
                <a:off x="7074208" y="1474732"/>
                <a:ext cx="4245049" cy="2966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Uncertainties (Standard Deviations)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Focal length uncertainty:</a:t>
                </a:r>
              </a:p>
              <a:p>
                <a:pPr lvl="1"/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11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 err="1"/>
                  <a:t>px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11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 err="1"/>
                  <a:t>px</a:t>
                </a:r>
                <a:br>
                  <a:rPr lang="en-US" dirty="0"/>
                </a:br>
                <a:r>
                  <a:rPr lang="en-US" dirty="0"/>
                  <a:t>         ~0.4% relative error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Principal point uncertainty:</a:t>
                </a:r>
              </a:p>
              <a:p>
                <a:pPr lvl="1"/>
                <a:r>
                  <a:rPr lang="en-US" dirty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6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dirty="0" err="1"/>
                  <a:t>px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 err="1"/>
                  <a:t>px</a:t>
                </a:r>
                <a:endParaRPr lang="en-US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Radial distortion uncertainty: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0098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0453</m:t>
                    </m:r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7EF8A6-CB84-016F-592F-D8D048B8F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4208" y="1474732"/>
                <a:ext cx="4245049" cy="2966518"/>
              </a:xfrm>
              <a:prstGeom prst="rect">
                <a:avLst/>
              </a:prstGeom>
              <a:blipFill>
                <a:blip r:embed="rId6"/>
                <a:stretch>
                  <a:fillRect l="-1148" t="-1437" b="-1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672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5228939"/>
              </p:ext>
            </p:extLst>
          </p:nvPr>
        </p:nvGraphicFramePr>
        <p:xfrm>
          <a:off x="1136341" y="1791962"/>
          <a:ext cx="453648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816">
                  <a:extLst>
                    <a:ext uri="{9D8B030D-6E8A-4147-A177-3AD203B41FA5}">
                      <a16:colId xmlns:a16="http://schemas.microsoft.com/office/drawing/2014/main" val="3492189567"/>
                    </a:ext>
                  </a:extLst>
                </a:gridCol>
                <a:gridCol w="1063363">
                  <a:extLst>
                    <a:ext uri="{9D8B030D-6E8A-4147-A177-3AD203B41FA5}">
                      <a16:colId xmlns:a16="http://schemas.microsoft.com/office/drawing/2014/main" val="2000806912"/>
                    </a:ext>
                  </a:extLst>
                </a:gridCol>
                <a:gridCol w="1057385">
                  <a:extLst>
                    <a:ext uri="{9D8B030D-6E8A-4147-A177-3AD203B41FA5}">
                      <a16:colId xmlns:a16="http://schemas.microsoft.com/office/drawing/2014/main" val="833355550"/>
                    </a:ext>
                  </a:extLst>
                </a:gridCol>
                <a:gridCol w="806925">
                  <a:extLst>
                    <a:ext uri="{9D8B030D-6E8A-4147-A177-3AD203B41FA5}">
                      <a16:colId xmlns:a16="http://schemas.microsoft.com/office/drawing/2014/main" val="2914418184"/>
                    </a:ext>
                  </a:extLst>
                </a:gridCol>
              </a:tblGrid>
              <a:tr h="342129">
                <a:tc>
                  <a:txBody>
                    <a:bodyPr/>
                    <a:lstStyle/>
                    <a:p>
                      <a:r>
                        <a:rPr lang="en-AU" dirty="0"/>
                        <a:t>Parameter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Value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σ 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σ/</a:t>
                      </a:r>
                      <a:r>
                        <a:rPr lang="en-AU" dirty="0" err="1"/>
                        <a:t>val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140390"/>
                  </a:ext>
                </a:extLst>
              </a:tr>
              <a:tr h="342129">
                <a:tc>
                  <a:txBody>
                    <a:bodyPr/>
                    <a:lstStyle/>
                    <a:p>
                      <a:r>
                        <a:rPr lang="en-AU" dirty="0" err="1"/>
                        <a:t>fx</a:t>
                      </a:r>
                      <a:r>
                        <a:rPr lang="en-AU" dirty="0"/>
                        <a:t> (</a:t>
                      </a:r>
                      <a:r>
                        <a:rPr lang="en-AU" dirty="0" err="1"/>
                        <a:t>px</a:t>
                      </a:r>
                      <a:r>
                        <a:rPr lang="en-AU" dirty="0"/>
                        <a:t>)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 3019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11.6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0.4%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92648"/>
                  </a:ext>
                </a:extLst>
              </a:tr>
              <a:tr h="342129">
                <a:tc>
                  <a:txBody>
                    <a:bodyPr/>
                    <a:lstStyle/>
                    <a:p>
                      <a:r>
                        <a:rPr lang="en-AU" dirty="0" err="1"/>
                        <a:t>fy</a:t>
                      </a:r>
                      <a:r>
                        <a:rPr lang="en-AU" dirty="0"/>
                        <a:t> (</a:t>
                      </a:r>
                      <a:r>
                        <a:rPr lang="en-AU" dirty="0" err="1"/>
                        <a:t>px</a:t>
                      </a:r>
                      <a:r>
                        <a:rPr lang="en-AU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11.7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0.4%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386558"/>
                  </a:ext>
                </a:extLst>
              </a:tr>
              <a:tr h="342129">
                <a:tc>
                  <a:txBody>
                    <a:bodyPr/>
                    <a:lstStyle/>
                    <a:p>
                      <a:r>
                        <a:rPr lang="en-AU" dirty="0"/>
                        <a:t>cx (</a:t>
                      </a:r>
                      <a:r>
                        <a:rPr lang="en-AU" dirty="0" err="1"/>
                        <a:t>px</a:t>
                      </a:r>
                      <a:r>
                        <a:rPr lang="en-AU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0.3%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612421"/>
                  </a:ext>
                </a:extLst>
              </a:tr>
              <a:tr h="342129">
                <a:tc>
                  <a:txBody>
                    <a:bodyPr/>
                    <a:lstStyle/>
                    <a:p>
                      <a:r>
                        <a:rPr lang="en-AU" dirty="0"/>
                        <a:t>cy (</a:t>
                      </a:r>
                      <a:r>
                        <a:rPr lang="en-AU" dirty="0" err="1"/>
                        <a:t>px</a:t>
                      </a:r>
                      <a:r>
                        <a:rPr lang="en-AU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1558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0.3%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005735"/>
                  </a:ext>
                </a:extLst>
              </a:tr>
              <a:tr h="342129">
                <a:tc>
                  <a:txBody>
                    <a:bodyPr/>
                    <a:lstStyle/>
                    <a:p>
                      <a:r>
                        <a:rPr lang="en-AU" dirty="0"/>
                        <a:t>k1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0.1556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6.3%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280717"/>
                  </a:ext>
                </a:extLst>
              </a:tr>
              <a:tr h="590524">
                <a:tc>
                  <a:txBody>
                    <a:bodyPr/>
                    <a:lstStyle/>
                    <a:p>
                      <a:r>
                        <a:rPr lang="en-AU" dirty="0"/>
                        <a:t>k2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-0.6846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0.0453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6.6%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52626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31" y="119514"/>
            <a:ext cx="8571719" cy="8839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690" y="2253375"/>
            <a:ext cx="6151397" cy="167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300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3E8F9F-790D-3C66-7FC9-2489AD4ED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D8F15CB-C8AB-E8A3-69BA-92CEEAB3C66A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CALIBRATION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95B4A0-B6E8-9DED-A23B-98A6256C5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FFD7C101-C992-D9BB-F6A2-FCD692A94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9794C1F-03F3-3683-8817-ACC6239B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10EB3-C680-1750-392E-5A9A09EC963B}"/>
              </a:ext>
            </a:extLst>
          </p:cNvPr>
          <p:cNvSpPr txBox="1"/>
          <p:nvPr/>
        </p:nvSpPr>
        <p:spPr>
          <a:xfrm>
            <a:off x="1111221" y="922866"/>
            <a:ext cx="6187440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4th order radial, no tangential, no skew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877FF5-5E5B-6226-A440-09A80BE6DFA4}"/>
              </a:ext>
            </a:extLst>
          </p:cNvPr>
          <p:cNvSpPr txBox="1"/>
          <p:nvPr/>
        </p:nvSpPr>
        <p:spPr>
          <a:xfrm>
            <a:off x="1319312" y="1379338"/>
            <a:ext cx="4468949" cy="2949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Mean error: 1.51 </a:t>
            </a:r>
            <a:r>
              <a:rPr lang="en-AU" dirty="0" err="1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px</a:t>
            </a:r>
            <a:r>
              <a:rPr lang="en-AU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(RMS over all corners, all images)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Per-image distribution: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Best:  0.26 </a:t>
            </a:r>
            <a:r>
              <a:rPr lang="en-AU" dirty="0" err="1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px</a:t>
            </a:r>
            <a:r>
              <a:rPr lang="en-AU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(sharp, well-lit, frontal view)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Worst: 3.65 </a:t>
            </a:r>
            <a:r>
              <a:rPr lang="en-AU" dirty="0" err="1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px</a:t>
            </a:r>
            <a:r>
              <a:rPr lang="en-AU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(blur, extreme angle, or occlusion)</a:t>
            </a:r>
            <a:endParaRPr lang="en-US" dirty="0">
              <a:solidFill>
                <a:srgbClr val="002060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4A1F0-8AB6-1261-0F66-DF2736220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921" y="1011012"/>
            <a:ext cx="6498431" cy="306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528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CALIBRATION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914D0-9A43-4DBD-7805-CAB6A9E54F75}"/>
              </a:ext>
            </a:extLst>
          </p:cNvPr>
          <p:cNvSpPr txBox="1"/>
          <p:nvPr/>
        </p:nvSpPr>
        <p:spPr>
          <a:xfrm>
            <a:off x="6177046" y="2438399"/>
            <a:ext cx="5914596" cy="3226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Interpretation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Calibration is globally consistent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few low-quality images dominate the mean error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No catastrophic outliers → dataset is stable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So, Accuracy is acceptable but limited by: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Image quality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Symmetric checker board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Corner detection accuracy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123553"/>
              </p:ext>
            </p:extLst>
          </p:nvPr>
        </p:nvGraphicFramePr>
        <p:xfrm>
          <a:off x="1326192" y="2398013"/>
          <a:ext cx="378902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130">
                  <a:extLst>
                    <a:ext uri="{9D8B030D-6E8A-4147-A177-3AD203B41FA5}">
                      <a16:colId xmlns:a16="http://schemas.microsoft.com/office/drawing/2014/main" val="739354519"/>
                    </a:ext>
                  </a:extLst>
                </a:gridCol>
                <a:gridCol w="1117884">
                  <a:extLst>
                    <a:ext uri="{9D8B030D-6E8A-4147-A177-3AD203B41FA5}">
                      <a16:colId xmlns:a16="http://schemas.microsoft.com/office/drawing/2014/main" val="980322984"/>
                    </a:ext>
                  </a:extLst>
                </a:gridCol>
                <a:gridCol w="1263007">
                  <a:extLst>
                    <a:ext uri="{9D8B030D-6E8A-4147-A177-3AD203B41FA5}">
                      <a16:colId xmlns:a16="http://schemas.microsoft.com/office/drawing/2014/main" val="1546726401"/>
                    </a:ext>
                  </a:extLst>
                </a:gridCol>
              </a:tblGrid>
              <a:tr h="614802">
                <a:tc>
                  <a:txBody>
                    <a:bodyPr/>
                    <a:lstStyle/>
                    <a:p>
                      <a:r>
                        <a:rPr lang="en-AU" dirty="0"/>
                        <a:t>Error Range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#Images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%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037844"/>
                  </a:ext>
                </a:extLst>
              </a:tr>
              <a:tr h="351315">
                <a:tc>
                  <a:txBody>
                    <a:bodyPr/>
                    <a:lstStyle/>
                    <a:p>
                      <a:r>
                        <a:rPr lang="en-AU" dirty="0"/>
                        <a:t>&lt; 1.0 </a:t>
                      </a:r>
                      <a:r>
                        <a:rPr lang="en-AU" dirty="0" err="1"/>
                        <a:t>px</a:t>
                      </a:r>
                      <a:r>
                        <a:rPr lang="en-AU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 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131863"/>
                  </a:ext>
                </a:extLst>
              </a:tr>
              <a:tr h="614802">
                <a:tc>
                  <a:txBody>
                    <a:bodyPr/>
                    <a:lstStyle/>
                    <a:p>
                      <a:r>
                        <a:rPr lang="en-AU" dirty="0"/>
                        <a:t>1.0-2.0 </a:t>
                      </a:r>
                      <a:r>
                        <a:rPr lang="en-AU" dirty="0" err="1"/>
                        <a:t>px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43%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547656"/>
                  </a:ext>
                </a:extLst>
              </a:tr>
              <a:tr h="614802">
                <a:tc>
                  <a:txBody>
                    <a:bodyPr/>
                    <a:lstStyle/>
                    <a:p>
                      <a:r>
                        <a:rPr lang="en-AU" dirty="0"/>
                        <a:t>2.0-3.0 </a:t>
                      </a:r>
                      <a:r>
                        <a:rPr lang="en-AU" dirty="0" err="1"/>
                        <a:t>px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14%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115898"/>
                  </a:ext>
                </a:extLst>
              </a:tr>
              <a:tr h="614802">
                <a:tc>
                  <a:txBody>
                    <a:bodyPr/>
                    <a:lstStyle/>
                    <a:p>
                      <a:r>
                        <a:rPr lang="en-AU" dirty="0"/>
                        <a:t>&gt; 3.0 </a:t>
                      </a:r>
                      <a:r>
                        <a:rPr lang="en-AU" dirty="0" err="1"/>
                        <a:t>px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 5%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146943"/>
                  </a:ext>
                </a:extLst>
              </a:tr>
            </a:tbl>
          </a:graphicData>
        </a:graphic>
      </p:graphicFrame>
      <p:sp>
        <p:nvSpPr>
          <p:cNvPr id="9" name="Right Arrow 8"/>
          <p:cNvSpPr/>
          <p:nvPr/>
        </p:nvSpPr>
        <p:spPr>
          <a:xfrm rot="11463550">
            <a:off x="5522733" y="4559656"/>
            <a:ext cx="870011" cy="11364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45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B06C6-49CE-2DEA-4960-4F3F1F81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47C9CBB-CED3-E023-34D1-F5659ACE81A4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CALIBRATION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74ADA7-A363-9CD8-4512-AD666F319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6637BAC4-8C38-3D71-68D5-2345142A7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41D308B-5325-44A9-4FE7-C18B82E7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206E1A-DEAD-172F-9983-F7CEEA23DE1E}"/>
              </a:ext>
            </a:extLst>
          </p:cNvPr>
          <p:cNvSpPr txBox="1"/>
          <p:nvPr/>
        </p:nvSpPr>
        <p:spPr>
          <a:xfrm>
            <a:off x="1111221" y="922866"/>
            <a:ext cx="6187440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4th order radial, no tangential, no skew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14A054-1ECA-0B32-52F1-46D8FC53371D}"/>
              </a:ext>
            </a:extLst>
          </p:cNvPr>
          <p:cNvSpPr txBox="1"/>
          <p:nvPr/>
        </p:nvSpPr>
        <p:spPr>
          <a:xfrm>
            <a:off x="1111221" y="1744471"/>
            <a:ext cx="446894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Extrinsic Parameters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Camera poses cover: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Different distances (Z direction)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Different orientations (tilted views)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Different lateral positions (X, 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geometric diversity is essential for good calibration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D7DCB7-E1D6-4FEB-8875-F5F336C01622}"/>
              </a:ext>
            </a:extLst>
          </p:cNvPr>
          <p:cNvSpPr txBox="1"/>
          <p:nvPr/>
        </p:nvSpPr>
        <p:spPr>
          <a:xfrm>
            <a:off x="6192344" y="3789749"/>
            <a:ext cx="5914596" cy="2810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Interpretation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The wide spread of poses: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Improves parameter observability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Reduces parameter 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No degenerate configuration: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No all images from same position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No all images </a:t>
            </a:r>
            <a:r>
              <a:rPr lang="en-US" dirty="0" err="1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fronto</a:t>
            </a: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-parallel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437D7-88C6-217F-4518-E1106ED57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428" y="807935"/>
            <a:ext cx="4177763" cy="312550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184" y="4502418"/>
            <a:ext cx="3701988" cy="222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631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07141-22AF-83DD-09B2-94FA3E65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5CE05AB-8C77-11D0-85E0-70698E2BA31D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CALIBRATION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69F5CD-2E25-3617-50A7-5DEE968A0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9EE8457-CCDB-D7C7-702C-53D90A766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4D33B48-F24E-F6A8-7861-42080310B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51FB6-E353-2A86-258D-4ECF8FE7824D}"/>
              </a:ext>
            </a:extLst>
          </p:cNvPr>
          <p:cNvSpPr txBox="1"/>
          <p:nvPr/>
        </p:nvSpPr>
        <p:spPr>
          <a:xfrm>
            <a:off x="1111221" y="922866"/>
            <a:ext cx="6187440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4th order radial, tangential, no skew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CBB789-0705-6823-6508-B5F93A36D914}"/>
                  </a:ext>
                </a:extLst>
              </p:cNvPr>
              <p:cNvSpPr txBox="1"/>
              <p:nvPr/>
            </p:nvSpPr>
            <p:spPr>
              <a:xfrm>
                <a:off x="1264580" y="1303818"/>
                <a:ext cx="6097772" cy="4384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Intrinsic Calibration Results 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Estimated Parameters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Focal length: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3018</m:t>
                    </m:r>
                  </m:oMath>
                </a14:m>
                <a:r>
                  <a:rPr lang="en-US" dirty="0" err="1"/>
                  <a:t>px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3006</m:t>
                    </m:r>
                  </m:oMath>
                </a14:m>
                <a:r>
                  <a:rPr lang="en-US" dirty="0" err="1"/>
                  <a:t>px</a:t>
                </a:r>
                <a:endParaRPr lang="en-US" dirty="0"/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Principal point:</a:t>
                </a:r>
              </a:p>
              <a:p>
                <a:pPr lvl="1"/>
                <a:r>
                  <a:rPr lang="en-US" dirty="0"/>
                  <a:t>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2066</m:t>
                    </m:r>
                  </m:oMath>
                </a14:m>
                <a:r>
                  <a:rPr lang="en-US" dirty="0" err="1"/>
                  <a:t>px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1574</m:t>
                    </m:r>
                  </m:oMath>
                </a14:m>
                <a:r>
                  <a:rPr lang="en-US" dirty="0" err="1"/>
                  <a:t>px</a:t>
                </a:r>
                <a:endParaRPr lang="en-US" dirty="0"/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Radial distortion: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1523</m:t>
                    </m:r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6711</m:t>
                    </m:r>
                  </m:oMath>
                </a14:m>
                <a:endParaRPr lang="ar-AE" dirty="0"/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Tangential distortion:</a:t>
                </a:r>
              </a:p>
              <a:p>
                <a:pPr lvl="1"/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0026</m:t>
                    </m:r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0052</m:t>
                    </m:r>
                  </m:oMath>
                </a14:m>
                <a:endParaRPr lang="ar-AE" dirty="0"/>
              </a:p>
              <a:p>
                <a:pPr lvl="2">
                  <a:lnSpc>
                    <a:spcPct val="150000"/>
                  </a:lnSpc>
                </a:pPr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CBB789-0705-6823-6508-B5F93A36D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580" y="1303818"/>
                <a:ext cx="6097772" cy="4384214"/>
              </a:xfrm>
              <a:prstGeom prst="rect">
                <a:avLst/>
              </a:prstGeom>
              <a:blipFill>
                <a:blip r:embed="rId5"/>
                <a:stretch>
                  <a:fillRect l="-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9D31175-0842-38A6-45B7-A7BFC2C77ACD}"/>
                  </a:ext>
                </a:extLst>
              </p:cNvPr>
              <p:cNvSpPr txBox="1"/>
              <p:nvPr/>
            </p:nvSpPr>
            <p:spPr>
              <a:xfrm>
                <a:off x="7767737" y="636305"/>
                <a:ext cx="4245049" cy="4079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Uncertainties (Standard Deviations)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Focal length uncertainty:</a:t>
                </a:r>
              </a:p>
              <a:p>
                <a:pPr lvl="1"/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11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 err="1"/>
                  <a:t>px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11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 err="1"/>
                  <a:t>px</a:t>
                </a:r>
                <a:br>
                  <a:rPr lang="en-US" dirty="0"/>
                </a:br>
                <a:r>
                  <a:rPr lang="en-US" dirty="0"/>
                  <a:t>         ~0.4% relative error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Principal point uncertainty:</a:t>
                </a:r>
              </a:p>
              <a:p>
                <a:pPr lvl="1"/>
                <a:r>
                  <a:rPr lang="en-US" dirty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 err="1"/>
                  <a:t>px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 err="1"/>
                  <a:t>px</a:t>
                </a:r>
                <a:endParaRPr lang="en-US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Radial distortion uncertainty: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010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04</m:t>
                    </m:r>
                  </m:oMath>
                </a14:m>
                <a:r>
                  <a:rPr lang="en-US" dirty="0"/>
                  <a:t>7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Tangential distortion uncertainty: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         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0012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0009</m:t>
                      </m:r>
                    </m:oMath>
                  </m:oMathPara>
                </a14:m>
                <a:endParaRPr lang="ar-AE" dirty="0"/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 </a:t>
                </a:r>
                <a:endParaRPr lang="ar-AE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9D31175-0842-38A6-45B7-A7BFC2C77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737" y="636305"/>
                <a:ext cx="4245049" cy="4079450"/>
              </a:xfrm>
              <a:prstGeom prst="rect">
                <a:avLst/>
              </a:prstGeom>
              <a:blipFill>
                <a:blip r:embed="rId6"/>
                <a:stretch>
                  <a:fillRect l="-1148" t="-896" r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DB9BA1A-746B-8E2B-423B-85B9F68E3D9B}"/>
              </a:ext>
            </a:extLst>
          </p:cNvPr>
          <p:cNvSpPr txBox="1"/>
          <p:nvPr/>
        </p:nvSpPr>
        <p:spPr>
          <a:xfrm>
            <a:off x="5873526" y="4237734"/>
            <a:ext cx="6187440" cy="228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Interpretation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Focal length and principal point are well estimated and stable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Radial distortion coefficients are well constrained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Tangential distortion: Small magnitude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Uncertainty is of the same order → weakly observable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Overall calibration is numerically stable</a:t>
            </a:r>
          </a:p>
        </p:txBody>
      </p:sp>
    </p:spTree>
    <p:extLst>
      <p:ext uri="{BB962C8B-B14F-4D97-AF65-F5344CB8AC3E}">
        <p14:creationId xmlns:p14="http://schemas.microsoft.com/office/powerpoint/2010/main" val="1552455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3290" y="215284"/>
            <a:ext cx="10018713" cy="1009835"/>
          </a:xfrm>
        </p:spPr>
        <p:txBody>
          <a:bodyPr/>
          <a:lstStyle/>
          <a:p>
            <a:r>
              <a:rPr lang="en-AU" dirty="0"/>
              <a:t>Comparison: Model 1 vs Model 2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5453227"/>
              </p:ext>
            </p:extLst>
          </p:nvPr>
        </p:nvGraphicFramePr>
        <p:xfrm>
          <a:off x="1244616" y="1344228"/>
          <a:ext cx="483658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147">
                  <a:extLst>
                    <a:ext uri="{9D8B030D-6E8A-4147-A177-3AD203B41FA5}">
                      <a16:colId xmlns:a16="http://schemas.microsoft.com/office/drawing/2014/main" val="3470902122"/>
                    </a:ext>
                  </a:extLst>
                </a:gridCol>
                <a:gridCol w="1209147">
                  <a:extLst>
                    <a:ext uri="{9D8B030D-6E8A-4147-A177-3AD203B41FA5}">
                      <a16:colId xmlns:a16="http://schemas.microsoft.com/office/drawing/2014/main" val="3350832450"/>
                    </a:ext>
                  </a:extLst>
                </a:gridCol>
                <a:gridCol w="1209147">
                  <a:extLst>
                    <a:ext uri="{9D8B030D-6E8A-4147-A177-3AD203B41FA5}">
                      <a16:colId xmlns:a16="http://schemas.microsoft.com/office/drawing/2014/main" val="937390181"/>
                    </a:ext>
                  </a:extLst>
                </a:gridCol>
                <a:gridCol w="1209147">
                  <a:extLst>
                    <a:ext uri="{9D8B030D-6E8A-4147-A177-3AD203B41FA5}">
                      <a16:colId xmlns:a16="http://schemas.microsoft.com/office/drawing/2014/main" val="29698537"/>
                    </a:ext>
                  </a:extLst>
                </a:gridCol>
              </a:tblGrid>
              <a:tr h="413675">
                <a:tc>
                  <a:txBody>
                    <a:bodyPr/>
                    <a:lstStyle/>
                    <a:p>
                      <a:r>
                        <a:rPr lang="en-AU" dirty="0"/>
                        <a:t>Parameter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Model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Model 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/>
                        <a:t>Δ </a:t>
                      </a:r>
                      <a:r>
                        <a:rPr lang="en-AU" dirty="0"/>
                        <a:t>Change 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021117"/>
                  </a:ext>
                </a:extLst>
              </a:tr>
              <a:tr h="413675">
                <a:tc>
                  <a:txBody>
                    <a:bodyPr/>
                    <a:lstStyle/>
                    <a:p>
                      <a:r>
                        <a:rPr lang="en-AU" dirty="0"/>
                        <a:t>cx (</a:t>
                      </a:r>
                      <a:r>
                        <a:rPr lang="en-AU" dirty="0" err="1"/>
                        <a:t>px</a:t>
                      </a:r>
                      <a:r>
                        <a:rPr lang="en-AU" dirty="0"/>
                        <a:t>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+33 </a:t>
                      </a:r>
                      <a:r>
                        <a:rPr lang="en-AU" dirty="0" err="1"/>
                        <a:t>px</a:t>
                      </a:r>
                      <a:endParaRPr lang="en-AU" dirty="0"/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018660"/>
                  </a:ext>
                </a:extLst>
              </a:tr>
              <a:tr h="413675">
                <a:tc>
                  <a:txBody>
                    <a:bodyPr/>
                    <a:lstStyle/>
                    <a:p>
                      <a:r>
                        <a:rPr lang="en-AU" dirty="0"/>
                        <a:t>cy (</a:t>
                      </a:r>
                      <a:r>
                        <a:rPr lang="en-AU" dirty="0" err="1"/>
                        <a:t>px</a:t>
                      </a:r>
                      <a:r>
                        <a:rPr lang="en-AU" dirty="0"/>
                        <a:t>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+16 </a:t>
                      </a:r>
                      <a:r>
                        <a:rPr lang="en-AU" dirty="0" err="1"/>
                        <a:t>px</a:t>
                      </a:r>
                      <a:r>
                        <a:rPr lang="en-AU" dirty="0"/>
                        <a:t> 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807090"/>
                  </a:ext>
                </a:extLst>
              </a:tr>
              <a:tr h="413675">
                <a:tc>
                  <a:txBody>
                    <a:bodyPr/>
                    <a:lstStyle/>
                    <a:p>
                      <a:r>
                        <a:rPr lang="en-AU" dirty="0"/>
                        <a:t>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0.1556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0.1523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-2.1% 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668573"/>
                  </a:ext>
                </a:extLst>
              </a:tr>
              <a:tr h="413675">
                <a:tc>
                  <a:txBody>
                    <a:bodyPr/>
                    <a:lstStyle/>
                    <a:p>
                      <a:r>
                        <a:rPr lang="en-AU" dirty="0"/>
                        <a:t>k2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-0.6846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-0.6711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-2.0% </a:t>
                      </a:r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226195"/>
                  </a:ext>
                </a:extLst>
              </a:tr>
              <a:tr h="413675">
                <a:tc>
                  <a:txBody>
                    <a:bodyPr/>
                    <a:lstStyle/>
                    <a:p>
                      <a:r>
                        <a:rPr lang="el-GR" dirty="0"/>
                        <a:t>σ_cx (px)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6.9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8.8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/>
                        <a:t>+27%</a:t>
                      </a:r>
                      <a:endParaRPr lang="en-AU" dirty="0"/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4821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13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152226" y="2203741"/>
            <a:ext cx="5672831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Interpretation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Tangential terms slightly alter distortion 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Uncertainties increase (decorrelation) → GOOD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Mean error unchanged (1.51 </a:t>
            </a:r>
            <a:r>
              <a:rPr lang="en-AU" dirty="0" err="1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px</a:t>
            </a:r>
            <a:r>
              <a:rPr lang="en-AU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 → No improvement</a:t>
            </a:r>
            <a:endParaRPr lang="en-US" dirty="0">
              <a:solidFill>
                <a:srgbClr val="002060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003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DCB4C6-CB1C-B6E7-22CD-EA1717430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70C8BE-ECB5-8211-7951-4480E76584E2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CALIBRATION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AE92B3-50D8-4DA1-7CBC-4E771E48B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C642DCE2-C83B-ABB0-1778-51444206E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7D0AF94-49DA-0D17-889E-9A74D6EA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DC6B7C-A364-4AF9-E305-4C480DE2C39A}"/>
              </a:ext>
            </a:extLst>
          </p:cNvPr>
          <p:cNvSpPr txBox="1"/>
          <p:nvPr/>
        </p:nvSpPr>
        <p:spPr>
          <a:xfrm>
            <a:off x="1111221" y="922866"/>
            <a:ext cx="6187440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4th order radial,  tangential, no skew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4826B-0911-CA83-B7E8-C0C4562F5AF8}"/>
              </a:ext>
            </a:extLst>
          </p:cNvPr>
          <p:cNvSpPr txBox="1"/>
          <p:nvPr/>
        </p:nvSpPr>
        <p:spPr>
          <a:xfrm>
            <a:off x="1319312" y="1379338"/>
            <a:ext cx="4468949" cy="4618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Intrinsic Calibration Results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Reprojection error is not uniform across images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Some images show large errors (~3–3.6 </a:t>
            </a:r>
            <a:r>
              <a:rPr lang="en-US" dirty="0" err="1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px</a:t>
            </a: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):Likely due to blur, poor lighting, or extreme perspective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Many images show small errors (&lt; 1 </a:t>
            </a:r>
            <a:r>
              <a:rPr lang="en-US" dirty="0" err="1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px</a:t>
            </a: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):Good quality and well-conditioned views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Final mean reprojection error ≈ </a:t>
            </a:r>
            <a:r>
              <a:rPr lang="en-US" b="1" dirty="0"/>
              <a:t>1.5 pixels</a:t>
            </a:r>
            <a:endParaRPr lang="en-US" dirty="0">
              <a:solidFill>
                <a:srgbClr val="002060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7C4777-8640-DBFE-5FBB-0CEA3897986F}"/>
              </a:ext>
            </a:extLst>
          </p:cNvPr>
          <p:cNvSpPr txBox="1"/>
          <p:nvPr/>
        </p:nvSpPr>
        <p:spPr>
          <a:xfrm>
            <a:off x="6657104" y="4499050"/>
            <a:ext cx="5914596" cy="1564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Interpretation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Calibration is globally consistent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 few low-quality images dominate the mean error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No catastrophic outliers → dataset is stable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90CBC2-6347-2247-92B8-5D535A19D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3268" y="1151102"/>
            <a:ext cx="6268204" cy="295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12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283C77-B10D-EA27-06AA-A9A879793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1E26769-F5AE-23B4-1B43-BB3AEC09317E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CALIBRATION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167A63-3AD7-A7AE-B733-B1AE06FC4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71EBF403-85E5-C50A-F4A5-8297C84FF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A6C9CED-7307-A91B-C777-3E8C8B9B3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C9E9C4-2F9B-D490-A720-57B943B56A06}"/>
              </a:ext>
            </a:extLst>
          </p:cNvPr>
          <p:cNvSpPr txBox="1"/>
          <p:nvPr/>
        </p:nvSpPr>
        <p:spPr>
          <a:xfrm>
            <a:off x="1111221" y="922866"/>
            <a:ext cx="6187440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4th order radial, tangential, no skew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AEDC26-FB45-9CEF-C233-69ED1212E8F0}"/>
              </a:ext>
            </a:extLst>
          </p:cNvPr>
          <p:cNvSpPr txBox="1"/>
          <p:nvPr/>
        </p:nvSpPr>
        <p:spPr>
          <a:xfrm>
            <a:off x="1319312" y="1379338"/>
            <a:ext cx="446894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Extrinsic Parameters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Camera poses cover: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Different distances (Z direction)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Different orientations (tilted views)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Different lateral positions (X, 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geometric diversity is essential for good calibration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19C6A7-06E4-CAD0-B1FD-7101F49D022D}"/>
              </a:ext>
            </a:extLst>
          </p:cNvPr>
          <p:cNvSpPr txBox="1"/>
          <p:nvPr/>
        </p:nvSpPr>
        <p:spPr>
          <a:xfrm>
            <a:off x="6192344" y="3789749"/>
            <a:ext cx="5914596" cy="2810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Interpretation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The wide spread of poses: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Improves parameter observability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Reduces parameter correlation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No degenerate configuration: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No all images from same position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No all images </a:t>
            </a:r>
            <a:r>
              <a:rPr lang="en-US" dirty="0" err="1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fronto</a:t>
            </a: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-parallel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6E988D-EFBD-8BAB-2BEB-E837242350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131" y="722863"/>
            <a:ext cx="4721669" cy="303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538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3E1DD2-8771-A3EC-CF4B-3DC701B87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34E65B9-C30A-F158-7D35-869669FC9073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CALIBRATION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45CD68-B7E8-6D6A-4024-E55FE482A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081FE687-97EB-0D0A-970B-4DFCB0374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4B6839B-077B-7905-91BE-0B9AB2BA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08B5F-AF2D-125F-757B-A5F8E66B6030}"/>
              </a:ext>
            </a:extLst>
          </p:cNvPr>
          <p:cNvSpPr txBox="1"/>
          <p:nvPr/>
        </p:nvSpPr>
        <p:spPr>
          <a:xfrm>
            <a:off x="1111221" y="585451"/>
            <a:ext cx="6187440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</a:t>
            </a:r>
            <a:r>
              <a:rPr lang="en-US" b="1" dirty="0">
                <a:solidFill>
                  <a:srgbClr val="00206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 order radial, tangential, no skew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135902-8882-C9FF-07BD-8BED7937283C}"/>
                  </a:ext>
                </a:extLst>
              </p:cNvPr>
              <p:cNvSpPr txBox="1"/>
              <p:nvPr/>
            </p:nvSpPr>
            <p:spPr>
              <a:xfrm>
                <a:off x="978255" y="1041923"/>
                <a:ext cx="6097772" cy="35101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Intrinsic Calibration Results 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Estimated Parameters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Focal length: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3022</m:t>
                    </m:r>
                  </m:oMath>
                </a14:m>
                <a:r>
                  <a:rPr lang="en-US" sz="1400" dirty="0" err="1"/>
                  <a:t>px</a:t>
                </a:r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3009</m:t>
                    </m:r>
                  </m:oMath>
                </a14:m>
                <a:r>
                  <a:rPr lang="en-US" sz="1400" dirty="0" err="1"/>
                  <a:t>px</a:t>
                </a:r>
                <a:endParaRPr lang="en-US" sz="1400" dirty="0"/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Principal point:</a:t>
                </a:r>
              </a:p>
              <a:p>
                <a:pPr lvl="1"/>
                <a:r>
                  <a:rPr lang="en-US" sz="1400" dirty="0"/>
                  <a:t>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2064</m:t>
                    </m:r>
                  </m:oMath>
                </a14:m>
                <a:r>
                  <a:rPr lang="en-US" sz="1400" dirty="0" err="1"/>
                  <a:t>px</a:t>
                </a:r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1574</m:t>
                    </m:r>
                  </m:oMath>
                </a14:m>
                <a:r>
                  <a:rPr lang="en-US" sz="1400" dirty="0" err="1"/>
                  <a:t>px</a:t>
                </a:r>
                <a:endParaRPr lang="en-US" sz="1400" dirty="0"/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Radial distortion: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sz="1400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1267</m:t>
                    </m:r>
                  </m:oMath>
                </a14:m>
                <a:r>
                  <a:rPr lang="ar-AE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3730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9578</m:t>
                    </m:r>
                  </m:oMath>
                </a14:m>
                <a:endParaRPr lang="ar-AE" sz="1400" dirty="0"/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Tangential distortion:</a:t>
                </a:r>
              </a:p>
              <a:p>
                <a:pPr lvl="1"/>
                <a:r>
                  <a:rPr lang="en-US" sz="14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0025</m:t>
                    </m:r>
                  </m:oMath>
                </a14:m>
                <a:r>
                  <a:rPr lang="ar-AE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0054</m:t>
                    </m:r>
                  </m:oMath>
                </a14:m>
                <a:endParaRPr lang="ar-AE" sz="1600" dirty="0"/>
              </a:p>
              <a:p>
                <a:pPr lvl="2">
                  <a:lnSpc>
                    <a:spcPct val="150000"/>
                  </a:lnSpc>
                </a:pPr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135902-8882-C9FF-07BD-8BED79372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255" y="1041923"/>
                <a:ext cx="6097772" cy="3510128"/>
              </a:xfrm>
              <a:prstGeom prst="rect">
                <a:avLst/>
              </a:prstGeom>
              <a:blipFill>
                <a:blip r:embed="rId5"/>
                <a:stretch>
                  <a:fillRect l="-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54CCE9-4C82-6C53-F218-E8E525020658}"/>
                  </a:ext>
                </a:extLst>
              </p:cNvPr>
              <p:cNvSpPr txBox="1"/>
              <p:nvPr/>
            </p:nvSpPr>
            <p:spPr>
              <a:xfrm>
                <a:off x="1593053" y="4251194"/>
                <a:ext cx="5069726" cy="2759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2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Uncertainties (Standard Deviations)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Focal length uncertainty:</a:t>
                </a:r>
              </a:p>
              <a:p>
                <a:pPr lvl="1"/>
                <a:r>
                  <a:rPr lang="en-US" sz="12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b>
                    </m:sSub>
                    <m:r>
                      <a:rPr lang="ar-AE" sz="12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200" i="0">
                        <a:latin typeface="Cambria Math" panose="02040503050406030204" pitchFamily="18" charset="0"/>
                      </a:rPr>
                      <m:t>11</m:t>
                    </m:r>
                    <m:r>
                      <a:rPr lang="ar-AE" sz="12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1200" dirty="0" err="1"/>
                  <a:t>px</a:t>
                </a:r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  <m:r>
                      <a:rPr lang="ar-AE" sz="12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200" i="0">
                        <a:latin typeface="Cambria Math" panose="02040503050406030204" pitchFamily="18" charset="0"/>
                      </a:rPr>
                      <m:t>11</m:t>
                    </m:r>
                    <m:r>
                      <a:rPr lang="ar-AE" sz="12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1200" dirty="0" err="1"/>
                  <a:t>px</a:t>
                </a:r>
                <a:br>
                  <a:rPr lang="en-US" sz="1200" dirty="0"/>
                </a:br>
                <a:r>
                  <a:rPr lang="en-US" sz="1200" dirty="0"/>
                  <a:t>         ~0.4% relative error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Principal point uncertainty:</a:t>
                </a:r>
              </a:p>
              <a:p>
                <a:pPr lvl="1"/>
                <a:r>
                  <a:rPr lang="en-US" sz="1200" dirty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b>
                    </m:sSub>
                    <m:r>
                      <a:rPr lang="ar-AE" sz="12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sz="12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1200" dirty="0" err="1"/>
                  <a:t>px</a:t>
                </a:r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  <m:r>
                      <a:rPr lang="ar-AE" sz="12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sz="12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1200" dirty="0" err="1"/>
                  <a:t>px</a:t>
                </a:r>
                <a:endParaRPr lang="en-US" sz="1200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Radial distortion uncertainty: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200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ar-AE" sz="12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ar-AE" sz="12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022</m:t>
                    </m:r>
                  </m:oMath>
                </a14:m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ar-AE" sz="12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ar-AE" sz="12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237</m:t>
                    </m:r>
                  </m:oMath>
                </a14:m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ar-AE" sz="1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ar-AE" sz="1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741</m:t>
                    </m:r>
                  </m:oMath>
                </a14:m>
                <a:endParaRPr lang="en-US" sz="1200" dirty="0">
                  <a:solidFill>
                    <a:srgbClr val="FF0000"/>
                  </a:solidFill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Tangential distortion uncertainty: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          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ar-AE" sz="12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0012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ar-AE" sz="12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0009</m:t>
                      </m:r>
                    </m:oMath>
                  </m:oMathPara>
                </a14:m>
                <a:endParaRPr lang="ar-AE" sz="1200" dirty="0"/>
              </a:p>
              <a:p>
                <a:pPr lvl="1">
                  <a:lnSpc>
                    <a:spcPct val="150000"/>
                  </a:lnSpc>
                </a:pPr>
                <a:r>
                  <a:rPr lang="en-US" sz="1200" dirty="0"/>
                  <a:t> </a:t>
                </a:r>
                <a:endParaRPr lang="ar-AE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54CCE9-4C82-6C53-F218-E8E525020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053" y="4251194"/>
                <a:ext cx="5069726" cy="27590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9ECBB32-46B2-FB43-6A67-59C7DAAF97BD}"/>
              </a:ext>
            </a:extLst>
          </p:cNvPr>
          <p:cNvSpPr txBox="1"/>
          <p:nvPr/>
        </p:nvSpPr>
        <p:spPr>
          <a:xfrm>
            <a:off x="6116622" y="1379338"/>
            <a:ext cx="5748793" cy="3067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Interpretation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Focal length and principal point are stable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But: 𝑘_2and 𝑘_3 have huge uncertainties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𝑘_3=−0.95±0.74 This means,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parameter is poorly observable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is a clear sign of overfitting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Tangential distortion is weakly observable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model is over-parameterized</a:t>
            </a:r>
          </a:p>
        </p:txBody>
      </p:sp>
    </p:spTree>
    <p:extLst>
      <p:ext uri="{BB962C8B-B14F-4D97-AF65-F5344CB8AC3E}">
        <p14:creationId xmlns:p14="http://schemas.microsoft.com/office/powerpoint/2010/main" val="577592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5C821-495B-15AD-FF4E-18269F81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BFF0FA0-76D7-941F-703F-AC8CC8A72CEB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CALIBRATION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B003C5-728F-CF14-0C26-E0F600AB3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8068FE2-CACF-199A-6884-F68B6828B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83C2686-D90C-7DDA-1857-FC44DB2C2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7A5EF-5937-88D8-FA84-5ACBAB817A6B}"/>
              </a:ext>
            </a:extLst>
          </p:cNvPr>
          <p:cNvSpPr txBox="1"/>
          <p:nvPr/>
        </p:nvSpPr>
        <p:spPr>
          <a:xfrm>
            <a:off x="1111221" y="922866"/>
            <a:ext cx="6187440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</a:t>
            </a:r>
            <a:r>
              <a:rPr lang="en-US" b="1" dirty="0">
                <a:solidFill>
                  <a:srgbClr val="00206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 order radial,  tangential, no skew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9EB85F-FA7E-C720-6722-F1E586E0FE31}"/>
              </a:ext>
            </a:extLst>
          </p:cNvPr>
          <p:cNvSpPr txBox="1"/>
          <p:nvPr/>
        </p:nvSpPr>
        <p:spPr>
          <a:xfrm>
            <a:off x="1319312" y="1379338"/>
            <a:ext cx="4468949" cy="336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Reprojection error distribution is very similar to simpler models: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Some images: ~3–3.6 </a:t>
            </a:r>
            <a:r>
              <a:rPr lang="en-US" dirty="0" err="1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px</a:t>
            </a:r>
            <a:endParaRPr lang="en-US" dirty="0">
              <a:solidFill>
                <a:srgbClr val="002060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Many images: &lt; 1 </a:t>
            </a:r>
            <a:r>
              <a:rPr lang="en-US" dirty="0" err="1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px</a:t>
            </a:r>
            <a:endParaRPr lang="en-US" dirty="0">
              <a:solidFill>
                <a:srgbClr val="002060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Global mean error is almost identical to: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4th-noT-no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S4th-T-noS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642A27-2CAC-E3DF-5CFA-901DAF346464}"/>
              </a:ext>
            </a:extLst>
          </p:cNvPr>
          <p:cNvSpPr txBox="1"/>
          <p:nvPr/>
        </p:nvSpPr>
        <p:spPr>
          <a:xfrm>
            <a:off x="6657104" y="4499050"/>
            <a:ext cx="5199616" cy="1148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Interpretation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Despite more parameters (k₁, k₂, k₃ + p₁, p₂),The reprojection error does not improve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FE68EC-031E-5171-1E8F-FBFFDDF32B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261" y="1250875"/>
            <a:ext cx="6187440" cy="292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311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760EE5-424D-2CB4-9AD6-BE3CAE00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BF025DF-5532-52B6-3706-55AEF5CE7B00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CALIBRATION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984A02-BC8A-A048-E456-FD375890F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FBDFB8B-713D-EDF9-5D9F-50110CF94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C88B54F-7161-D18D-71C4-6EF3AA60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BFB75-A8DB-4A1B-77C0-6CF74841762A}"/>
              </a:ext>
            </a:extLst>
          </p:cNvPr>
          <p:cNvSpPr txBox="1"/>
          <p:nvPr/>
        </p:nvSpPr>
        <p:spPr>
          <a:xfrm>
            <a:off x="1111221" y="922866"/>
            <a:ext cx="6187440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</a:t>
            </a:r>
            <a:r>
              <a:rPr lang="en-US" b="1" dirty="0">
                <a:solidFill>
                  <a:srgbClr val="00206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 order radial, tangential, no skew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E0F66B-CC3A-57A7-DA07-6FB526D88ED9}"/>
              </a:ext>
            </a:extLst>
          </p:cNvPr>
          <p:cNvSpPr txBox="1"/>
          <p:nvPr/>
        </p:nvSpPr>
        <p:spPr>
          <a:xfrm>
            <a:off x="1319312" y="1379338"/>
            <a:ext cx="446894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Extrinsic Parameters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Camera poses cover: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Different distances (Z direction)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Different orientations (tilted views)</a:t>
            </a:r>
          </a:p>
          <a:p>
            <a:pPr marL="7429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Different lateral positions (X, 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geometric diversity is essential for good calibration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CC4F0C-224C-CEAF-25E4-679087AF54CA}"/>
              </a:ext>
            </a:extLst>
          </p:cNvPr>
          <p:cNvSpPr txBox="1"/>
          <p:nvPr/>
        </p:nvSpPr>
        <p:spPr>
          <a:xfrm>
            <a:off x="6277404" y="3620836"/>
            <a:ext cx="5914596" cy="3094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002060"/>
                </a:solidFill>
              </a:rPr>
              <a:t>Interpretation</a:t>
            </a:r>
          </a:p>
          <a:p>
            <a:pPr>
              <a:buNone/>
            </a:pPr>
            <a:endParaRPr lang="en-US" b="1" dirty="0">
              <a:solidFill>
                <a:srgbClr val="00206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Good geometric diversity is present: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This is necessary for reliable calibration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pose distribution is very similar to the simpler models: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The complex distortion model does not change camera geometry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31B4B4-2897-776F-7527-65ADF1A6E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131" y="722863"/>
            <a:ext cx="4721669" cy="303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659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5E2E8-005A-E6CF-0B59-7226BB5C3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91E4BAE-3356-AD84-A14C-9E9B3C0C99FA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CALIBRATION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910630-D848-0196-F1AE-BCADB2B47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8CE0BAE-7437-5A1C-3176-39E357CDC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4D96FFF-3F6D-0538-B8AA-556AC3CD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9E2824-9150-5D9C-EA6B-0513AEA690B7}"/>
              </a:ext>
            </a:extLst>
          </p:cNvPr>
          <p:cNvSpPr txBox="1"/>
          <p:nvPr/>
        </p:nvSpPr>
        <p:spPr>
          <a:xfrm>
            <a:off x="1111221" y="650024"/>
            <a:ext cx="6187440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</a:t>
            </a:r>
            <a:r>
              <a:rPr lang="en-US" b="1" dirty="0">
                <a:solidFill>
                  <a:srgbClr val="002060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th order radial, tangential,  skew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7631DC-60A2-FF12-C803-D851D019E6C8}"/>
                  </a:ext>
                </a:extLst>
              </p:cNvPr>
              <p:cNvSpPr txBox="1"/>
              <p:nvPr/>
            </p:nvSpPr>
            <p:spPr>
              <a:xfrm>
                <a:off x="1264580" y="953543"/>
                <a:ext cx="4608946" cy="41564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Intrinsic Calibration Results 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Estimated Parameters</a:t>
                </a:r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Focal length: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3020</m:t>
                    </m:r>
                  </m:oMath>
                </a14:m>
                <a:r>
                  <a:rPr lang="en-US" sz="1400" dirty="0" err="1"/>
                  <a:t>px</a:t>
                </a:r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3008</m:t>
                    </m:r>
                  </m:oMath>
                </a14:m>
                <a:r>
                  <a:rPr lang="en-US" sz="1400" dirty="0" err="1"/>
                  <a:t>px</a:t>
                </a:r>
                <a:endParaRPr lang="en-US" sz="1400" dirty="0"/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Principal point:</a:t>
                </a:r>
              </a:p>
              <a:p>
                <a:pPr lvl="1"/>
                <a:r>
                  <a:rPr lang="en-US" sz="1400" dirty="0"/>
                  <a:t>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2065</m:t>
                    </m:r>
                  </m:oMath>
                </a14:m>
                <a:r>
                  <a:rPr lang="en-US" sz="1400" dirty="0" err="1"/>
                  <a:t>px</a:t>
                </a:r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1567</m:t>
                    </m:r>
                  </m:oMath>
                </a14:m>
                <a:r>
                  <a:rPr lang="en-US" sz="1400" dirty="0" err="1"/>
                  <a:t>px</a:t>
                </a:r>
                <a:endParaRPr lang="en-US" sz="1400" dirty="0"/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Radial distortion: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1310</m:t>
                    </m:r>
                  </m:oMath>
                </a14:m>
                <a:r>
                  <a:rPr lang="ar-AE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37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93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801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dirty="0"/>
              </a:p>
              <a:p>
                <a:pPr marL="12001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Tangential distortion:</a:t>
                </a:r>
              </a:p>
              <a:p>
                <a:pPr lvl="1"/>
                <a:r>
                  <a:rPr lang="en-US" sz="140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0026</m:t>
                    </m:r>
                  </m:oMath>
                </a14:m>
                <a:r>
                  <a:rPr lang="ar-AE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400">
                        <a:latin typeface="Cambria Math" panose="02040503050406030204" pitchFamily="18" charset="0"/>
                      </a:rPr>
                      <m:t>0052</m:t>
                    </m:r>
                  </m:oMath>
                </a14:m>
                <a:endParaRPr lang="en-US" sz="1400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Skew:</a:t>
                </a:r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≈−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84</m:t>
                      </m:r>
                    </m:oMath>
                  </m:oMathPara>
                </a14:m>
                <a:endParaRPr lang="en-US" sz="1400" dirty="0"/>
              </a:p>
              <a:p>
                <a:pPr lvl="1"/>
                <a:endParaRPr lang="ar-AE" sz="1400" dirty="0"/>
              </a:p>
              <a:p>
                <a:pPr lvl="2">
                  <a:lnSpc>
                    <a:spcPct val="150000"/>
                  </a:lnSpc>
                </a:pPr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7631DC-60A2-FF12-C803-D851D019E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580" y="953543"/>
                <a:ext cx="4608946" cy="4156459"/>
              </a:xfrm>
              <a:prstGeom prst="rect">
                <a:avLst/>
              </a:prstGeom>
              <a:blipFill>
                <a:blip r:embed="rId5"/>
                <a:stretch>
                  <a:fillRect l="-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0DC3275-9EF0-D611-46FC-3C58C771DE57}"/>
                  </a:ext>
                </a:extLst>
              </p:cNvPr>
              <p:cNvSpPr txBox="1"/>
              <p:nvPr/>
            </p:nvSpPr>
            <p:spPr>
              <a:xfrm>
                <a:off x="6004560" y="3717723"/>
                <a:ext cx="6187440" cy="28109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Interpretation</a:t>
                </a:r>
              </a:p>
              <a:p>
                <a:pPr marL="2857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Skew:</a:t>
                </a:r>
              </a:p>
              <a:p>
                <a:pPr marL="457200" lvl="3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 </a:t>
                </a:r>
              </a:p>
              <a:p>
                <a:pPr marL="742950" lvl="3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No improvement in reprojection error</a:t>
                </a:r>
              </a:p>
              <a:p>
                <a:pPr marL="2857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Much worse parameter uncertainties</a:t>
                </a:r>
              </a:p>
              <a:p>
                <a:pPr marL="2857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Physically meaningless parameters</a:t>
                </a:r>
              </a:p>
              <a:p>
                <a:pPr marL="2857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Clear evidence of overfitting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0DC3275-9EF0-D611-46FC-3C58C771D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560" y="3717723"/>
                <a:ext cx="6187440" cy="2810962"/>
              </a:xfrm>
              <a:prstGeom prst="rect">
                <a:avLst/>
              </a:prstGeom>
              <a:blipFill>
                <a:blip r:embed="rId6"/>
                <a:stretch>
                  <a:fillRect l="-788" t="-1302" b="-2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55342E4-C587-92F7-66CD-7D9716DBD02F}"/>
                  </a:ext>
                </a:extLst>
              </p:cNvPr>
              <p:cNvSpPr txBox="1"/>
              <p:nvPr/>
            </p:nvSpPr>
            <p:spPr>
              <a:xfrm>
                <a:off x="7122274" y="785029"/>
                <a:ext cx="5069726" cy="3466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12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Uncertainties (Standard Deviations)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Focal length uncertainty:</a:t>
                </a:r>
              </a:p>
              <a:p>
                <a:pPr lvl="1"/>
                <a:r>
                  <a:rPr lang="en-US" sz="12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b>
                    </m:sSub>
                    <m:r>
                      <a:rPr lang="ar-AE" sz="12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200" i="0">
                        <a:latin typeface="Cambria Math" panose="02040503050406030204" pitchFamily="18" charset="0"/>
                      </a:rPr>
                      <m:t>11</m:t>
                    </m:r>
                    <m:r>
                      <a:rPr lang="ar-AE" sz="12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1200" dirty="0" err="1"/>
                  <a:t>px</a:t>
                </a:r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  <m:r>
                      <a:rPr lang="ar-AE" sz="12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200" i="0">
                        <a:latin typeface="Cambria Math" panose="02040503050406030204" pitchFamily="18" charset="0"/>
                      </a:rPr>
                      <m:t>11</m:t>
                    </m:r>
                    <m:r>
                      <a:rPr lang="ar-AE" sz="12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1200" dirty="0" err="1"/>
                  <a:t>px</a:t>
                </a:r>
                <a:br>
                  <a:rPr lang="en-US" sz="1200" dirty="0"/>
                </a:br>
                <a:r>
                  <a:rPr lang="en-US" sz="1200" dirty="0"/>
                  <a:t>         ~0.4% relative error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Principal point uncertainty:</a:t>
                </a:r>
              </a:p>
              <a:p>
                <a:pPr lvl="1"/>
                <a:r>
                  <a:rPr lang="en-US" sz="1200" dirty="0"/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b>
                    </m:sSub>
                    <m:r>
                      <a:rPr lang="ar-AE" sz="12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sz="12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1200" dirty="0" err="1"/>
                  <a:t>px</a:t>
                </a:r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sub>
                    </m:sSub>
                    <m:r>
                      <a:rPr lang="ar-AE" sz="12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ar-AE" sz="12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1200" dirty="0" err="1"/>
                  <a:t>px</a:t>
                </a:r>
                <a:endParaRPr lang="en-US" sz="1200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Radial distortion uncertainty: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200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ar-AE" sz="12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ar-AE" sz="12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022</m:t>
                    </m:r>
                  </m:oMath>
                </a14:m>
                <a:r>
                  <a:rPr lang="en-US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ar-AE" sz="12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ar-AE" sz="12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237</m:t>
                    </m:r>
                  </m:oMath>
                </a14:m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ar-AE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ar-AE" sz="12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a:rPr lang="ar-AE" sz="1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2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741</m:t>
                    </m:r>
                  </m:oMath>
                </a14:m>
                <a:endParaRPr lang="en-US" sz="1200" dirty="0">
                  <a:solidFill>
                    <a:srgbClr val="FF0000"/>
                  </a:solidFill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Tangential distortion uncertainty: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          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ar-AE" sz="12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0012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ar-AE" sz="120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0009</m:t>
                      </m:r>
                    </m:oMath>
                  </m:oMathPara>
                </a14:m>
                <a:endParaRPr lang="en-US" sz="1200" dirty="0"/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rgbClr val="002060"/>
                    </a:solidFill>
                    <a:latin typeface="Cambria" panose="02040503050406030204" pitchFamily="18" charset="0"/>
                    <a:ea typeface="MS Mincho" panose="02020609040205080304" pitchFamily="49" charset="-128"/>
                    <a:cs typeface="Times New Roman" panose="02020603050405020304" pitchFamily="18" charset="0"/>
                  </a:rPr>
                  <a:t>Skew: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ar-AE" sz="1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1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1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4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58</m:t>
                      </m:r>
                    </m:oMath>
                  </m:oMathPara>
                </a14:m>
                <a:endParaRPr lang="ar-AE" sz="1400" dirty="0">
                  <a:solidFill>
                    <a:srgbClr val="FF0000"/>
                  </a:solidFill>
                </a:endParaRPr>
              </a:p>
              <a:p>
                <a:pPr lvl="1"/>
                <a:endParaRPr lang="ar-AE" sz="1200" dirty="0"/>
              </a:p>
              <a:p>
                <a:pPr lvl="1">
                  <a:lnSpc>
                    <a:spcPct val="150000"/>
                  </a:lnSpc>
                </a:pPr>
                <a:r>
                  <a:rPr lang="en-US" sz="1200" dirty="0"/>
                  <a:t> </a:t>
                </a:r>
                <a:endParaRPr lang="ar-AE" sz="1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55342E4-C587-92F7-66CD-7D9716DBD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274" y="785029"/>
                <a:ext cx="5069726" cy="3466911"/>
              </a:xfrm>
              <a:prstGeom prst="rect">
                <a:avLst/>
              </a:prstGeom>
              <a:blipFill>
                <a:blip r:embed="rId7"/>
                <a:stretch>
                  <a:fillRect t="-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1930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81B47-31A1-B43F-3A5F-B5669BDA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7646C09-A936-525D-4262-3C31C91A79C5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CALIBRATION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608F38-86D6-BFDF-D9A2-D97893CE2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78E6C720-0344-FEA5-8F7F-740F909B4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A8F336B-E268-CC29-3DE6-24E37C2CE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20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70188-1095-BB81-8FCB-278EC63D02B4}"/>
              </a:ext>
            </a:extLst>
          </p:cNvPr>
          <p:cNvSpPr txBox="1"/>
          <p:nvPr/>
        </p:nvSpPr>
        <p:spPr>
          <a:xfrm>
            <a:off x="1111221" y="922866"/>
            <a:ext cx="6187440" cy="45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6th order radial, tangential,  skew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5C954-1CC3-0360-C031-1DFC51B3CC7A}"/>
              </a:ext>
            </a:extLst>
          </p:cNvPr>
          <p:cNvSpPr txBox="1"/>
          <p:nvPr/>
        </p:nvSpPr>
        <p:spPr>
          <a:xfrm>
            <a:off x="1319312" y="1379338"/>
            <a:ext cx="4468949" cy="4618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Intrinsic Calibration Results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Reprojection error is not uniform across images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Some images show large errors (~3–3.6 </a:t>
            </a:r>
            <a:r>
              <a:rPr lang="en-US" dirty="0" err="1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px</a:t>
            </a: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):Likely due to blur, poor lighting, or extreme perspective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Many images show small errors (&lt; 1 </a:t>
            </a:r>
            <a:r>
              <a:rPr lang="en-US" dirty="0" err="1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px</a:t>
            </a:r>
            <a:r>
              <a:rPr lang="en-US" dirty="0">
                <a:solidFill>
                  <a:srgbClr val="002060"/>
                </a:solidFill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):Good quality and well-conditioned views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Final mean reprojection error ≈ </a:t>
            </a:r>
            <a:r>
              <a:rPr lang="en-US" b="1" dirty="0"/>
              <a:t>1.5 pixels</a:t>
            </a:r>
            <a:endParaRPr lang="en-US" dirty="0">
              <a:solidFill>
                <a:srgbClr val="002060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D122F6-0FFC-1BA3-70B5-E46B155874DB}"/>
              </a:ext>
            </a:extLst>
          </p:cNvPr>
          <p:cNvSpPr txBox="1"/>
          <p:nvPr/>
        </p:nvSpPr>
        <p:spPr>
          <a:xfrm>
            <a:off x="6224638" y="4881822"/>
            <a:ext cx="59145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Despite3 radial coefficients, Tangential distortion, Skew the reprojection error does not improve at all</a:t>
            </a:r>
            <a:endParaRPr lang="en-US" dirty="0">
              <a:solidFill>
                <a:srgbClr val="002060"/>
              </a:solidFill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17A951-7DAA-B721-5FE0-E446BA62A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754" y="1379338"/>
            <a:ext cx="6275093" cy="296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56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DE732-E79D-1A5F-9816-62C194FF0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3ED9AD4-0A93-0A79-EB79-0CB802C6BE18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IMAGE COUNT ANALYSIS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BAF288-F761-9CB3-A049-62CCC4EC4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E94B2674-1F38-6160-B8CC-10E4E9513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D4A9C73-47DE-654B-1954-46B17E36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21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6DDB5F-AC70-650A-9176-46DF7E138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591" y="3763099"/>
            <a:ext cx="3631078" cy="598184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A4FB785-7F88-5788-49A0-1470D6B93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594574"/>
              </p:ext>
            </p:extLst>
          </p:nvPr>
        </p:nvGraphicFramePr>
        <p:xfrm>
          <a:off x="2368136" y="1020923"/>
          <a:ext cx="8273989" cy="27432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436891">
                  <a:extLst>
                    <a:ext uri="{9D8B030D-6E8A-4147-A177-3AD203B41FA5}">
                      <a16:colId xmlns:a16="http://schemas.microsoft.com/office/drawing/2014/main" val="2158895568"/>
                    </a:ext>
                  </a:extLst>
                </a:gridCol>
                <a:gridCol w="2558926">
                  <a:extLst>
                    <a:ext uri="{9D8B030D-6E8A-4147-A177-3AD203B41FA5}">
                      <a16:colId xmlns:a16="http://schemas.microsoft.com/office/drawing/2014/main" val="2529355806"/>
                    </a:ext>
                  </a:extLst>
                </a:gridCol>
                <a:gridCol w="1449371">
                  <a:extLst>
                    <a:ext uri="{9D8B030D-6E8A-4147-A177-3AD203B41FA5}">
                      <a16:colId xmlns:a16="http://schemas.microsoft.com/office/drawing/2014/main" val="3657482562"/>
                    </a:ext>
                  </a:extLst>
                </a:gridCol>
                <a:gridCol w="1828801">
                  <a:extLst>
                    <a:ext uri="{9D8B030D-6E8A-4147-A177-3AD203B41FA5}">
                      <a16:colId xmlns:a16="http://schemas.microsoft.com/office/drawing/2014/main" val="2326760345"/>
                    </a:ext>
                  </a:extLst>
                </a:gridCol>
              </a:tblGrid>
              <a:tr h="428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Number of Images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 Reprojection Error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dirty="0"/>
                        <a:t> σ_</a:t>
                      </a:r>
                      <a:r>
                        <a:rPr lang="en-US" dirty="0" err="1"/>
                        <a:t>fx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px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Selection</a:t>
                      </a:r>
                      <a:r>
                        <a:rPr lang="en-US" baseline="0" dirty="0"/>
                        <a:t> Strategy</a:t>
                      </a:r>
                      <a:endParaRPr 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635832"/>
                  </a:ext>
                </a:extLst>
              </a:tr>
              <a:tr h="2945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2.45 </a:t>
                      </a:r>
                      <a:r>
                        <a:rPr lang="en-US" dirty="0" err="1"/>
                        <a:t>px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18.2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Diverse pose</a:t>
                      </a:r>
                      <a:endParaRPr lang="en-US" dirty="0"/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865234"/>
                  </a:ext>
                </a:extLst>
              </a:tr>
              <a:tr h="187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2.74 </a:t>
                      </a:r>
                      <a:r>
                        <a:rPr lang="en-US" dirty="0" err="1"/>
                        <a:t>px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15.6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effectLst/>
                        </a:rPr>
                        <a:t>Random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1910890"/>
                  </a:ext>
                </a:extLst>
              </a:tr>
              <a:tr h="326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2.84 </a:t>
                      </a:r>
                      <a:r>
                        <a:rPr lang="en-US" dirty="0" err="1"/>
                        <a:t>px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Random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972420"/>
                  </a:ext>
                </a:extLst>
              </a:tr>
              <a:tr h="326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2.49 </a:t>
                      </a:r>
                      <a:r>
                        <a:rPr lang="en-US" dirty="0" err="1"/>
                        <a:t>px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13.3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/>
                        <a:t>Random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4935242"/>
                  </a:ext>
                </a:extLst>
              </a:tr>
              <a:tr h="3262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1.51 </a:t>
                      </a:r>
                      <a:r>
                        <a:rPr lang="en-US" b="1" dirty="0" err="1"/>
                        <a:t>px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images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636992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8D21FCF-87C6-3590-74B3-F53B5EF9DE2C}"/>
              </a:ext>
            </a:extLst>
          </p:cNvPr>
          <p:cNvSpPr txBox="1"/>
          <p:nvPr/>
        </p:nvSpPr>
        <p:spPr>
          <a:xfrm>
            <a:off x="913480" y="4896367"/>
            <a:ext cx="5591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2060"/>
                </a:solidFill>
              </a:rPr>
              <a:t>  Error does NOT decrease monotonically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2060"/>
                </a:solidFill>
              </a:rPr>
              <a:t>  Image QUALITY matters more than QUANTITY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764653" y="4757867"/>
            <a:ext cx="4989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2060"/>
                </a:solidFill>
              </a:rPr>
              <a:t>Uncertainty (</a:t>
            </a:r>
            <a:r>
              <a:rPr lang="en-AU" dirty="0" err="1">
                <a:solidFill>
                  <a:srgbClr val="002060"/>
                </a:solidFill>
              </a:rPr>
              <a:t>σ_fx</a:t>
            </a:r>
            <a:r>
              <a:rPr lang="en-AU" dirty="0">
                <a:solidFill>
                  <a:srgbClr val="002060"/>
                </a:solidFill>
              </a:rPr>
              <a:t>) DOES decrease monotonically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002060"/>
                </a:solidFill>
              </a:rPr>
              <a:t> More images = more stable estimation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73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275207"/>
            <a:ext cx="10018713" cy="6569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IMAGE COUNT ANALYSIS</a:t>
            </a:r>
            <a:br>
              <a:rPr lang="en-US" b="1" dirty="0"/>
            </a:br>
            <a:endParaRPr lang="en-AU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229" y="1094039"/>
            <a:ext cx="7362402" cy="347041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22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56738" y="1137841"/>
            <a:ext cx="379964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With few images: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Poor geometric coverage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Poor parameter observability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Large </a:t>
            </a:r>
            <a:r>
              <a:rPr lang="en-US" dirty="0" err="1">
                <a:solidFill>
                  <a:srgbClr val="002060"/>
                </a:solidFill>
              </a:rPr>
              <a:t>reprojection</a:t>
            </a:r>
            <a:r>
              <a:rPr lang="en-US" dirty="0">
                <a:solidFill>
                  <a:srgbClr val="002060"/>
                </a:solidFill>
              </a:rPr>
              <a:t> error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As number of images increases: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Viewpoint diversity increases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Estimation becomes more stable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Error decreases significantly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1168" y="4809144"/>
            <a:ext cx="5814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CONCLUSION</a:t>
            </a:r>
            <a:r>
              <a:rPr lang="en-AU" dirty="0">
                <a:solidFill>
                  <a:srgbClr val="002060"/>
                </a:solidFill>
              </a:rPr>
              <a:t>:</a:t>
            </a:r>
          </a:p>
          <a:p>
            <a:r>
              <a:rPr lang="en-AU" dirty="0">
                <a:solidFill>
                  <a:srgbClr val="002060"/>
                </a:solidFill>
              </a:rPr>
              <a:t>-     Minimum: ~10 images for stable calibration</a:t>
            </a:r>
          </a:p>
          <a:p>
            <a:pPr marL="285750" indent="-285750">
              <a:buFontTx/>
              <a:buChar char="-"/>
            </a:pPr>
            <a:r>
              <a:rPr lang="en-AU" dirty="0">
                <a:solidFill>
                  <a:srgbClr val="002060"/>
                </a:solidFill>
              </a:rPr>
              <a:t> Optimal: 20-30 high-quality, diverse images</a:t>
            </a:r>
          </a:p>
          <a:p>
            <a:pPr marL="285750" indent="-285750">
              <a:buFontTx/>
              <a:buChar char="-"/>
            </a:pPr>
            <a:r>
              <a:rPr lang="en-AU" dirty="0">
                <a:solidFill>
                  <a:srgbClr val="002060"/>
                </a:solidFill>
              </a:rPr>
              <a:t> Adding poor images can HURT accuracy!</a:t>
            </a:r>
          </a:p>
        </p:txBody>
      </p:sp>
    </p:spTree>
    <p:extLst>
      <p:ext uri="{BB962C8B-B14F-4D97-AF65-F5344CB8AC3E}">
        <p14:creationId xmlns:p14="http://schemas.microsoft.com/office/powerpoint/2010/main" val="127147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188F9B-E414-AD69-5B6C-05523064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287CFA-323A-6AF1-7D0B-8DDDC31A5181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SCORE METRIC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BDAFAF-1879-ACE5-B3E4-00B7E05BA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5CC4B9EE-CB4C-AB6F-E712-A298339F2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0D7BD0A-3D6F-A5C8-F39C-5DED50ED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23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114765-C9D6-0C47-A99E-A995A561E5E6}"/>
                  </a:ext>
                </a:extLst>
              </p:cNvPr>
              <p:cNvSpPr txBox="1"/>
              <p:nvPr/>
            </p:nvSpPr>
            <p:spPr>
              <a:xfrm>
                <a:off x="1912811" y="1117052"/>
                <a:ext cx="9184640" cy="48579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/>
                        <m:t>Score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sub>
                          </m:s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</m:t>
                          </m:r>
                        </m:num>
                        <m:den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ar-AE" b="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sub>
                          </m:s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</m:t>
                          </m:r>
                        </m:num>
                        <m:den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ar-AE" b="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sub>
                          </m:s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</m:t>
                          </m:r>
                        </m:num>
                        <m:den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ar-AE" b="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sub>
                          </m:s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</m:t>
                          </m:r>
                        </m:num>
                        <m:den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  <m:r>
                        <a:rPr lang="ar-AE" b="0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</m:num>
                            <m:den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</m:den>
                          </m:f>
                        </m:e>
                      </m:nary>
                      <m:r>
                        <a:rPr lang="ar-AE" b="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b>
                          </m:s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</m:t>
                          </m:r>
                        </m:num>
                        <m:den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∣</m:t>
                          </m:r>
                        </m:den>
                      </m:f>
                      <m:r>
                        <a:rPr lang="ar-AE" b="0" i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ar-AE" b="0" dirty="0"/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Where: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= standard deviation (uncertainty)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= estimated parameters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ar-AE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rgbClr val="002060"/>
                    </a:solidFill>
                  </a:rPr>
                  <a:t>= </a:t>
                </a:r>
                <a:r>
                  <a:rPr lang="en-US" dirty="0">
                    <a:solidFill>
                      <a:srgbClr val="002060"/>
                    </a:solidFill>
                  </a:rPr>
                  <a:t>reprojection error components</a:t>
                </a:r>
              </a:p>
              <a:p>
                <a:pPr>
                  <a:buNone/>
                </a:pPr>
                <a:br>
                  <a:rPr lang="en-US" dirty="0">
                    <a:solidFill>
                      <a:srgbClr val="002060"/>
                    </a:solidFill>
                  </a:rPr>
                </a:br>
                <a:endParaRPr lang="en-US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</a:rPr>
                  <a:t>The score measures: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</a:rPr>
                  <a:t>Relative uncertainty of parameters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002060"/>
                    </a:solidFill>
                  </a:rPr>
                  <a:t>Plus geometric reprojection accuracy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Lower score  means More accurate More stable More reliable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114765-C9D6-0C47-A99E-A995A561E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2811" y="1117052"/>
                <a:ext cx="9184640" cy="4857933"/>
              </a:xfrm>
              <a:prstGeom prst="rect">
                <a:avLst/>
              </a:prstGeom>
              <a:blipFill>
                <a:blip r:embed="rId5"/>
                <a:stretch>
                  <a:fillRect l="-598" b="-10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8048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3CF28-51E5-D1A4-8695-A2964683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24CC492-72FC-0E43-BBDA-5008D63FD394}"/>
              </a:ext>
            </a:extLst>
          </p:cNvPr>
          <p:cNvSpPr txBox="1">
            <a:spLocks/>
          </p:cNvSpPr>
          <p:nvPr/>
        </p:nvSpPr>
        <p:spPr>
          <a:xfrm>
            <a:off x="2217820" y="101261"/>
            <a:ext cx="8574623" cy="82160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b="1" dirty="0"/>
              <a:t>SCORE METRIC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CB500C-830E-FCBE-229E-21DC3BB53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52" y="1106496"/>
            <a:ext cx="507293" cy="4852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93A200BA-C4B5-2F7E-6CBB-29F6FE84D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79F1A9-4AD9-E6B3-652B-E8B08F57C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9257" y="6002867"/>
            <a:ext cx="212344" cy="218828"/>
          </a:xfrm>
        </p:spPr>
        <p:txBody>
          <a:bodyPr/>
          <a:lstStyle/>
          <a:p>
            <a:fld id="{77D65960-9D0F-44D2-88F9-95B0BAD7FBD5}" type="slidenum">
              <a:rPr lang="en-US" smtClean="0"/>
              <a:t>24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9FF8D2-17FC-10F8-A4E5-F91C8D14FC9E}"/>
              </a:ext>
            </a:extLst>
          </p:cNvPr>
          <p:cNvSpPr txBox="1"/>
          <p:nvPr/>
        </p:nvSpPr>
        <p:spPr>
          <a:xfrm>
            <a:off x="2134617" y="1106496"/>
            <a:ext cx="9184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solidFill>
                  <a:srgbClr val="002060"/>
                </a:solidFill>
              </a:rPr>
              <a:t>Performance Score Comparison Between Models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0E13B8-2867-33C6-6FC1-146976D54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871202"/>
              </p:ext>
            </p:extLst>
          </p:nvPr>
        </p:nvGraphicFramePr>
        <p:xfrm>
          <a:off x="2299315" y="1903680"/>
          <a:ext cx="8229603" cy="257334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849734">
                  <a:extLst>
                    <a:ext uri="{9D8B030D-6E8A-4147-A177-3AD203B41FA5}">
                      <a16:colId xmlns:a16="http://schemas.microsoft.com/office/drawing/2014/main" val="2749663184"/>
                    </a:ext>
                  </a:extLst>
                </a:gridCol>
                <a:gridCol w="2956264">
                  <a:extLst>
                    <a:ext uri="{9D8B030D-6E8A-4147-A177-3AD203B41FA5}">
                      <a16:colId xmlns:a16="http://schemas.microsoft.com/office/drawing/2014/main" val="2949672913"/>
                    </a:ext>
                  </a:extLst>
                </a:gridCol>
                <a:gridCol w="2423605">
                  <a:extLst>
                    <a:ext uri="{9D8B030D-6E8A-4147-A177-3AD203B41FA5}">
                      <a16:colId xmlns:a16="http://schemas.microsoft.com/office/drawing/2014/main" val="2688300891"/>
                    </a:ext>
                  </a:extLst>
                </a:gridCol>
              </a:tblGrid>
              <a:tr h="79513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 err="1">
                          <a:solidFill>
                            <a:srgbClr val="002060"/>
                          </a:solidFill>
                        </a:rPr>
                        <a:t>Omnivision</a:t>
                      </a: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 50 MP Score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Samsung 12MP Score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101268"/>
                  </a:ext>
                </a:extLst>
              </a:tr>
              <a:tr h="444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4th-noT-noS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5141862"/>
                  </a:ext>
                </a:extLst>
              </a:tr>
              <a:tr h="444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4th-T-noS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1.66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2.21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8893244"/>
                  </a:ext>
                </a:extLst>
              </a:tr>
              <a:tr h="444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6th-T-noS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3.11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2.95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5332882"/>
                  </a:ext>
                </a:extLst>
              </a:tr>
              <a:tr h="444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6th-T-S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`3.51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3.55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35416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66F56F5-EEF0-7E08-DB15-C69DC918263E}"/>
              </a:ext>
            </a:extLst>
          </p:cNvPr>
          <p:cNvSpPr txBox="1"/>
          <p:nvPr/>
        </p:nvSpPr>
        <p:spPr>
          <a:xfrm>
            <a:off x="1761890" y="4822565"/>
            <a:ext cx="1020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CONCLUSION: The 4th-noT-noS model is the best compromise between accuracy and stability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1537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F0F10-512F-7DA6-A043-21C34C912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47">
            <a:extLst>
              <a:ext uri="{FF2B5EF4-FFF2-40B4-BE49-F238E27FC236}">
                <a16:creationId xmlns:a16="http://schemas.microsoft.com/office/drawing/2014/main" id="{08751D95-C333-4DEB-90B4-1EAC9A91D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flipH="1">
            <a:off x="4062127" y="-15832"/>
            <a:ext cx="8129873" cy="6889518"/>
          </a:xfrm>
          <a:custGeom>
            <a:avLst/>
            <a:gdLst>
              <a:gd name="connsiteX0" fmla="*/ 0 w 8129873"/>
              <a:gd name="connsiteY0" fmla="*/ 0 h 6889518"/>
              <a:gd name="connsiteX1" fmla="*/ 0 w 8129873"/>
              <a:gd name="connsiteY1" fmla="*/ 6889518 h 6889518"/>
              <a:gd name="connsiteX2" fmla="*/ 6207942 w 8129873"/>
              <a:gd name="connsiteY2" fmla="*/ 6882299 h 6889518"/>
              <a:gd name="connsiteX3" fmla="*/ 8129873 w 8129873"/>
              <a:gd name="connsiteY3" fmla="*/ 5349831 h 6889518"/>
              <a:gd name="connsiteX4" fmla="*/ 7291674 w 8129873"/>
              <a:gd name="connsiteY4" fmla="*/ 7365 h 6889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9873" h="6889518">
                <a:moveTo>
                  <a:pt x="0" y="0"/>
                </a:moveTo>
                <a:lnTo>
                  <a:pt x="0" y="6889518"/>
                </a:lnTo>
                <a:lnTo>
                  <a:pt x="6207942" y="6882299"/>
                </a:lnTo>
                <a:lnTo>
                  <a:pt x="8129873" y="5349831"/>
                </a:lnTo>
                <a:lnTo>
                  <a:pt x="7291674" y="7365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BA7535-3851-431E-BDA9-B4F6C1201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13893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2F07680B-461A-4AFC-808F-93216679AA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8C864A04-25C0-4A5F-B6D4-F3859450A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F596D75-78C8-47A8-9225-7C64A66747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128D8641-4FEB-4878-B029-6CC4922EB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BB339737-0E88-4165-A752-9E204068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633AF255-B0DD-4D23-A3F2-DDB221BB1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7CF76-89D9-B109-6FD5-23EFDE808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0706" y="2218267"/>
            <a:ext cx="5154901" cy="262345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5400" dirty="0">
                <a:solidFill>
                  <a:schemeClr val="bg1"/>
                </a:solidFill>
              </a:rPr>
              <a:t>THANK  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A3E8A-00BD-5513-53B8-05250F8C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65960-9D0F-44D2-88F9-95B0BAD7FBD5}" type="slidenum">
              <a:rPr lang="en-US" smtClean="0"/>
              <a:t>25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35028B7-E263-1612-A276-A78932EB1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273635"/>
            <a:ext cx="651785" cy="64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ipartimento di Ingegneria Industriale - DII - UniversitÃ ...">
            <a:extLst>
              <a:ext uri="{FF2B5EF4-FFF2-40B4-BE49-F238E27FC236}">
                <a16:creationId xmlns:a16="http://schemas.microsoft.com/office/drawing/2014/main" id="{07272EBC-F19B-E545-977B-31C1CD8D9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7" y="1066800"/>
            <a:ext cx="728089" cy="577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6004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18006</TotalTime>
  <Words>2163</Words>
  <Application>Microsoft Office PowerPoint</Application>
  <PresentationFormat>Widescreen</PresentationFormat>
  <Paragraphs>454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Arial</vt:lpstr>
      <vt:lpstr>Cambria</vt:lpstr>
      <vt:lpstr>Cambria Math</vt:lpstr>
      <vt:lpstr>Corbel</vt:lpstr>
      <vt:lpstr>Helvetica Neue</vt:lpstr>
      <vt:lpstr>Parallax</vt:lpstr>
      <vt:lpstr>SYSTEMS FOR AUTONOMOUS AIRCRAFT FINAL PROJECT 2025-2026 </vt:lpstr>
      <vt:lpstr>Camera Specs which camera?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CALIBRATION</vt:lpstr>
      <vt:lpstr>PowerPoint Presentation</vt:lpstr>
      <vt:lpstr>PowerPoint Presentation</vt:lpstr>
      <vt:lpstr>Comparison: Model 1 vs Model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 COUNT ANALYSIS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FOR AUTONOMOUS AIRCRAFT FINAL PROJECT 2025-2026</dc:title>
  <dc:creator>ADITHYA ZACHARI VALAVI</dc:creator>
  <cp:lastModifiedBy>MUSTAFA CELALEDDIN ONER</cp:lastModifiedBy>
  <cp:revision>45</cp:revision>
  <dcterms:created xsi:type="dcterms:W3CDTF">2025-03-02T13:24:58Z</dcterms:created>
  <dcterms:modified xsi:type="dcterms:W3CDTF">2026-03-25T13:19:06Z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2025-03-03T11:04:36Z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fee99056-358c-48d9-9a55-ab26420c7ee7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